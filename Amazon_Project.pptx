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5" r:id="rId8"/>
    <p:sldId id="262" r:id="rId9"/>
    <p:sldId id="263" r:id="rId10"/>
    <p:sldId id="264" r:id="rId11"/>
    <p:sldId id="266" r:id="rId12"/>
    <p:sldId id="267" r:id="rId13"/>
    <p:sldId id="268" r:id="rId14"/>
    <p:sldId id="271" r:id="rId15"/>
    <p:sldId id="269" r:id="rId16"/>
    <p:sldId id="270"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7DC601B-691B-4BAE-AAE6-D4190B5AFE11}" v="72" dt="2026-05-22T08:15:35.09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showGuides="1">
      <p:cViewPr varScale="1">
        <p:scale>
          <a:sx n="78" d="100"/>
          <a:sy n="78" d="100"/>
        </p:scale>
        <p:origin x="878"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5/10/relationships/revisionInfo" Target="revisionInfo.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764347-ACF9-22DE-938F-2E1B4AF5790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6D62136A-AD99-34B4-1BB0-0FECA8A64C9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0F3431F-C6A5-32CF-A4A6-18E617099F7C}"/>
              </a:ext>
            </a:extLst>
          </p:cNvPr>
          <p:cNvSpPr>
            <a:spLocks noGrp="1"/>
          </p:cNvSpPr>
          <p:nvPr>
            <p:ph type="dt" sz="half" idx="10"/>
          </p:nvPr>
        </p:nvSpPr>
        <p:spPr/>
        <p:txBody>
          <a:bodyPr/>
          <a:lstStyle/>
          <a:p>
            <a:fld id="{E07D4DC4-637B-4E6C-A982-1E8C168591E8}" type="datetimeFigureOut">
              <a:rPr lang="en-US" smtClean="0"/>
              <a:t>5/22/2026</a:t>
            </a:fld>
            <a:endParaRPr lang="en-US" dirty="0"/>
          </a:p>
        </p:txBody>
      </p:sp>
      <p:sp>
        <p:nvSpPr>
          <p:cNvPr id="5" name="Footer Placeholder 4">
            <a:extLst>
              <a:ext uri="{FF2B5EF4-FFF2-40B4-BE49-F238E27FC236}">
                <a16:creationId xmlns:a16="http://schemas.microsoft.com/office/drawing/2014/main" id="{2B6987C4-7FD4-6A2D-075D-63A851E61B8F}"/>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BA470060-FAF3-36D5-34DE-5C61E63A90D5}"/>
              </a:ext>
            </a:extLst>
          </p:cNvPr>
          <p:cNvSpPr>
            <a:spLocks noGrp="1"/>
          </p:cNvSpPr>
          <p:nvPr>
            <p:ph type="sldNum" sz="quarter" idx="12"/>
          </p:nvPr>
        </p:nvSpPr>
        <p:spPr/>
        <p:txBody>
          <a:bodyPr/>
          <a:lstStyle/>
          <a:p>
            <a:fld id="{6975858D-5C65-4E6E-8A4D-67778C62CCB0}" type="slidenum">
              <a:rPr lang="en-US" smtClean="0"/>
              <a:t>‹#›</a:t>
            </a:fld>
            <a:endParaRPr lang="en-US" dirty="0"/>
          </a:p>
        </p:txBody>
      </p:sp>
    </p:spTree>
    <p:extLst>
      <p:ext uri="{BB962C8B-B14F-4D97-AF65-F5344CB8AC3E}">
        <p14:creationId xmlns:p14="http://schemas.microsoft.com/office/powerpoint/2010/main" val="17375971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0D1B87-D312-F086-823B-2AB7B1A40A0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6890ED5-29DC-30F1-AF22-9F62CA55B53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5F38161-6E96-611F-D823-9465A3722865}"/>
              </a:ext>
            </a:extLst>
          </p:cNvPr>
          <p:cNvSpPr>
            <a:spLocks noGrp="1"/>
          </p:cNvSpPr>
          <p:nvPr>
            <p:ph type="dt" sz="half" idx="10"/>
          </p:nvPr>
        </p:nvSpPr>
        <p:spPr/>
        <p:txBody>
          <a:bodyPr/>
          <a:lstStyle/>
          <a:p>
            <a:fld id="{E07D4DC4-637B-4E6C-A982-1E8C168591E8}" type="datetimeFigureOut">
              <a:rPr lang="en-US" smtClean="0"/>
              <a:t>5/22/2026</a:t>
            </a:fld>
            <a:endParaRPr lang="en-US" dirty="0"/>
          </a:p>
        </p:txBody>
      </p:sp>
      <p:sp>
        <p:nvSpPr>
          <p:cNvPr id="5" name="Footer Placeholder 4">
            <a:extLst>
              <a:ext uri="{FF2B5EF4-FFF2-40B4-BE49-F238E27FC236}">
                <a16:creationId xmlns:a16="http://schemas.microsoft.com/office/drawing/2014/main" id="{E2F37BC2-A2C7-FF95-DD5F-00C12571A226}"/>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2FF5DF95-7E5C-0D8E-4606-F5CAA40631CC}"/>
              </a:ext>
            </a:extLst>
          </p:cNvPr>
          <p:cNvSpPr>
            <a:spLocks noGrp="1"/>
          </p:cNvSpPr>
          <p:nvPr>
            <p:ph type="sldNum" sz="quarter" idx="12"/>
          </p:nvPr>
        </p:nvSpPr>
        <p:spPr/>
        <p:txBody>
          <a:bodyPr/>
          <a:lstStyle/>
          <a:p>
            <a:fld id="{6975858D-5C65-4E6E-8A4D-67778C62CCB0}" type="slidenum">
              <a:rPr lang="en-US" smtClean="0"/>
              <a:t>‹#›</a:t>
            </a:fld>
            <a:endParaRPr lang="en-US" dirty="0"/>
          </a:p>
        </p:txBody>
      </p:sp>
    </p:spTree>
    <p:extLst>
      <p:ext uri="{BB962C8B-B14F-4D97-AF65-F5344CB8AC3E}">
        <p14:creationId xmlns:p14="http://schemas.microsoft.com/office/powerpoint/2010/main" val="16371293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DCACCC-7782-1C8A-A65F-0AC5E19B101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D0EA88C3-DF48-A915-E8B9-019007F8F67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3D42BC7-D907-5326-E3AB-38E4ACDE4C6D}"/>
              </a:ext>
            </a:extLst>
          </p:cNvPr>
          <p:cNvSpPr>
            <a:spLocks noGrp="1"/>
          </p:cNvSpPr>
          <p:nvPr>
            <p:ph type="dt" sz="half" idx="10"/>
          </p:nvPr>
        </p:nvSpPr>
        <p:spPr/>
        <p:txBody>
          <a:bodyPr/>
          <a:lstStyle/>
          <a:p>
            <a:fld id="{E07D4DC4-637B-4E6C-A982-1E8C168591E8}" type="datetimeFigureOut">
              <a:rPr lang="en-US" smtClean="0"/>
              <a:t>5/22/2026</a:t>
            </a:fld>
            <a:endParaRPr lang="en-US" dirty="0"/>
          </a:p>
        </p:txBody>
      </p:sp>
      <p:sp>
        <p:nvSpPr>
          <p:cNvPr id="5" name="Footer Placeholder 4">
            <a:extLst>
              <a:ext uri="{FF2B5EF4-FFF2-40B4-BE49-F238E27FC236}">
                <a16:creationId xmlns:a16="http://schemas.microsoft.com/office/drawing/2014/main" id="{C022A934-59A0-94C1-E517-3A2F5038C0FC}"/>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807F1C33-33DC-53D6-437A-6370D5D516B3}"/>
              </a:ext>
            </a:extLst>
          </p:cNvPr>
          <p:cNvSpPr>
            <a:spLocks noGrp="1"/>
          </p:cNvSpPr>
          <p:nvPr>
            <p:ph type="sldNum" sz="quarter" idx="12"/>
          </p:nvPr>
        </p:nvSpPr>
        <p:spPr/>
        <p:txBody>
          <a:bodyPr/>
          <a:lstStyle/>
          <a:p>
            <a:fld id="{6975858D-5C65-4E6E-8A4D-67778C62CCB0}" type="slidenum">
              <a:rPr lang="en-US" smtClean="0"/>
              <a:t>‹#›</a:t>
            </a:fld>
            <a:endParaRPr lang="en-US" dirty="0"/>
          </a:p>
        </p:txBody>
      </p:sp>
    </p:spTree>
    <p:extLst>
      <p:ext uri="{BB962C8B-B14F-4D97-AF65-F5344CB8AC3E}">
        <p14:creationId xmlns:p14="http://schemas.microsoft.com/office/powerpoint/2010/main" val="136763175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E121AA-1A7B-9F00-1729-D056025849B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65EB316-CCAC-A006-A3CC-D3856EC7718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79B5275-DBE4-1F6F-F4F0-4A0FE0BC65F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7357F187-4AFF-AD2C-F42B-B5A554E205B6}"/>
              </a:ext>
            </a:extLst>
          </p:cNvPr>
          <p:cNvSpPr>
            <a:spLocks noGrp="1"/>
          </p:cNvSpPr>
          <p:nvPr>
            <p:ph type="dt" sz="half" idx="10"/>
          </p:nvPr>
        </p:nvSpPr>
        <p:spPr/>
        <p:txBody>
          <a:bodyPr/>
          <a:lstStyle/>
          <a:p>
            <a:fld id="{E07D4DC4-637B-4E6C-A982-1E8C168591E8}" type="datetimeFigureOut">
              <a:rPr lang="en-US" smtClean="0"/>
              <a:t>5/22/2026</a:t>
            </a:fld>
            <a:endParaRPr lang="en-US" dirty="0"/>
          </a:p>
        </p:txBody>
      </p:sp>
      <p:sp>
        <p:nvSpPr>
          <p:cNvPr id="6" name="Footer Placeholder 5">
            <a:extLst>
              <a:ext uri="{FF2B5EF4-FFF2-40B4-BE49-F238E27FC236}">
                <a16:creationId xmlns:a16="http://schemas.microsoft.com/office/drawing/2014/main" id="{3DD58B6A-C3E0-C7F7-4D72-D812207C29F7}"/>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ED7970DD-0015-BDF7-241E-2640099EB6BE}"/>
              </a:ext>
            </a:extLst>
          </p:cNvPr>
          <p:cNvSpPr>
            <a:spLocks noGrp="1"/>
          </p:cNvSpPr>
          <p:nvPr>
            <p:ph type="sldNum" sz="quarter" idx="12"/>
          </p:nvPr>
        </p:nvSpPr>
        <p:spPr/>
        <p:txBody>
          <a:bodyPr/>
          <a:lstStyle/>
          <a:p>
            <a:fld id="{6975858D-5C65-4E6E-8A4D-67778C62CCB0}" type="slidenum">
              <a:rPr lang="en-US" smtClean="0"/>
              <a:t>‹#›</a:t>
            </a:fld>
            <a:endParaRPr lang="en-US" dirty="0"/>
          </a:p>
        </p:txBody>
      </p:sp>
    </p:spTree>
    <p:extLst>
      <p:ext uri="{BB962C8B-B14F-4D97-AF65-F5344CB8AC3E}">
        <p14:creationId xmlns:p14="http://schemas.microsoft.com/office/powerpoint/2010/main" val="196703188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F40FD9-363D-B785-AECA-0ACCFEB96B43}"/>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5EC03BC8-C039-555B-702F-D9B02D30472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AAFDF0A-80B1-E505-9DE0-EFF775CB8D7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DE419D6F-323F-6CD7-B117-BA598FA1245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AB9390C-764A-AFE0-3B7C-F9EE69137ED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EFF0409-DEA0-9371-12F3-1968FE7959D0}"/>
              </a:ext>
            </a:extLst>
          </p:cNvPr>
          <p:cNvSpPr>
            <a:spLocks noGrp="1"/>
          </p:cNvSpPr>
          <p:nvPr>
            <p:ph type="dt" sz="half" idx="10"/>
          </p:nvPr>
        </p:nvSpPr>
        <p:spPr/>
        <p:txBody>
          <a:bodyPr/>
          <a:lstStyle/>
          <a:p>
            <a:fld id="{E07D4DC4-637B-4E6C-A982-1E8C168591E8}" type="datetimeFigureOut">
              <a:rPr lang="en-US" smtClean="0"/>
              <a:t>5/22/2026</a:t>
            </a:fld>
            <a:endParaRPr lang="en-US" dirty="0"/>
          </a:p>
        </p:txBody>
      </p:sp>
      <p:sp>
        <p:nvSpPr>
          <p:cNvPr id="8" name="Footer Placeholder 7">
            <a:extLst>
              <a:ext uri="{FF2B5EF4-FFF2-40B4-BE49-F238E27FC236}">
                <a16:creationId xmlns:a16="http://schemas.microsoft.com/office/drawing/2014/main" id="{F3BFC04F-2F1C-391D-6078-0C546243F5B5}"/>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8719B019-3BED-24E3-41EE-65E7557E7614}"/>
              </a:ext>
            </a:extLst>
          </p:cNvPr>
          <p:cNvSpPr>
            <a:spLocks noGrp="1"/>
          </p:cNvSpPr>
          <p:nvPr>
            <p:ph type="sldNum" sz="quarter" idx="12"/>
          </p:nvPr>
        </p:nvSpPr>
        <p:spPr/>
        <p:txBody>
          <a:bodyPr/>
          <a:lstStyle/>
          <a:p>
            <a:fld id="{6975858D-5C65-4E6E-8A4D-67778C62CCB0}" type="slidenum">
              <a:rPr lang="en-US" smtClean="0"/>
              <a:t>‹#›</a:t>
            </a:fld>
            <a:endParaRPr lang="en-US" dirty="0"/>
          </a:p>
        </p:txBody>
      </p:sp>
    </p:spTree>
    <p:extLst>
      <p:ext uri="{BB962C8B-B14F-4D97-AF65-F5344CB8AC3E}">
        <p14:creationId xmlns:p14="http://schemas.microsoft.com/office/powerpoint/2010/main" val="371854637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0373DA-3060-05B9-03AB-AE72A9530387}"/>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36EAFD02-7288-317A-17A6-58BC4CB49768}"/>
              </a:ext>
            </a:extLst>
          </p:cNvPr>
          <p:cNvSpPr>
            <a:spLocks noGrp="1"/>
          </p:cNvSpPr>
          <p:nvPr>
            <p:ph type="dt" sz="half" idx="10"/>
          </p:nvPr>
        </p:nvSpPr>
        <p:spPr/>
        <p:txBody>
          <a:bodyPr/>
          <a:lstStyle/>
          <a:p>
            <a:fld id="{E07D4DC4-637B-4E6C-A982-1E8C168591E8}" type="datetimeFigureOut">
              <a:rPr lang="en-US" smtClean="0"/>
              <a:t>5/22/2026</a:t>
            </a:fld>
            <a:endParaRPr lang="en-US" dirty="0"/>
          </a:p>
        </p:txBody>
      </p:sp>
      <p:sp>
        <p:nvSpPr>
          <p:cNvPr id="4" name="Footer Placeholder 3">
            <a:extLst>
              <a:ext uri="{FF2B5EF4-FFF2-40B4-BE49-F238E27FC236}">
                <a16:creationId xmlns:a16="http://schemas.microsoft.com/office/drawing/2014/main" id="{F79D208A-6519-A7B8-08B7-88769387C257}"/>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0CFAFF30-A5D3-5159-2EBA-A257982463C5}"/>
              </a:ext>
            </a:extLst>
          </p:cNvPr>
          <p:cNvSpPr>
            <a:spLocks noGrp="1"/>
          </p:cNvSpPr>
          <p:nvPr>
            <p:ph type="sldNum" sz="quarter" idx="12"/>
          </p:nvPr>
        </p:nvSpPr>
        <p:spPr/>
        <p:txBody>
          <a:bodyPr/>
          <a:lstStyle/>
          <a:p>
            <a:fld id="{6975858D-5C65-4E6E-8A4D-67778C62CCB0}" type="slidenum">
              <a:rPr lang="en-US" smtClean="0"/>
              <a:t>‹#›</a:t>
            </a:fld>
            <a:endParaRPr lang="en-US" dirty="0"/>
          </a:p>
        </p:txBody>
      </p:sp>
    </p:spTree>
    <p:extLst>
      <p:ext uri="{BB962C8B-B14F-4D97-AF65-F5344CB8AC3E}">
        <p14:creationId xmlns:p14="http://schemas.microsoft.com/office/powerpoint/2010/main" val="131885912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41D881B-FC2C-2FCC-53D0-758B9B7DBE40}"/>
              </a:ext>
            </a:extLst>
          </p:cNvPr>
          <p:cNvSpPr>
            <a:spLocks noGrp="1"/>
          </p:cNvSpPr>
          <p:nvPr>
            <p:ph type="dt" sz="half" idx="10"/>
          </p:nvPr>
        </p:nvSpPr>
        <p:spPr/>
        <p:txBody>
          <a:bodyPr/>
          <a:lstStyle/>
          <a:p>
            <a:fld id="{E07D4DC4-637B-4E6C-A982-1E8C168591E8}" type="datetimeFigureOut">
              <a:rPr lang="en-US" smtClean="0"/>
              <a:t>5/22/2026</a:t>
            </a:fld>
            <a:endParaRPr lang="en-US" dirty="0"/>
          </a:p>
        </p:txBody>
      </p:sp>
      <p:sp>
        <p:nvSpPr>
          <p:cNvPr id="3" name="Footer Placeholder 2">
            <a:extLst>
              <a:ext uri="{FF2B5EF4-FFF2-40B4-BE49-F238E27FC236}">
                <a16:creationId xmlns:a16="http://schemas.microsoft.com/office/drawing/2014/main" id="{05379B23-6D5E-2E7E-B663-FE2BA1D68239}"/>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1E19A150-4B49-F1C2-4146-C0AE7419AB8E}"/>
              </a:ext>
            </a:extLst>
          </p:cNvPr>
          <p:cNvSpPr>
            <a:spLocks noGrp="1"/>
          </p:cNvSpPr>
          <p:nvPr>
            <p:ph type="sldNum" sz="quarter" idx="12"/>
          </p:nvPr>
        </p:nvSpPr>
        <p:spPr/>
        <p:txBody>
          <a:bodyPr/>
          <a:lstStyle/>
          <a:p>
            <a:fld id="{6975858D-5C65-4E6E-8A4D-67778C62CCB0}" type="slidenum">
              <a:rPr lang="en-US" smtClean="0"/>
              <a:t>‹#›</a:t>
            </a:fld>
            <a:endParaRPr lang="en-US" dirty="0"/>
          </a:p>
        </p:txBody>
      </p:sp>
    </p:spTree>
    <p:extLst>
      <p:ext uri="{BB962C8B-B14F-4D97-AF65-F5344CB8AC3E}">
        <p14:creationId xmlns:p14="http://schemas.microsoft.com/office/powerpoint/2010/main" val="353022966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368310-6011-C949-F5C6-28D50553FED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1C5EB49E-730F-7EA3-9235-C77C1C5A084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0E263E9F-266D-EB93-D863-5E4CCC1ED3D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36CB04E-9631-C307-EAAC-4B6A9183F8A3}"/>
              </a:ext>
            </a:extLst>
          </p:cNvPr>
          <p:cNvSpPr>
            <a:spLocks noGrp="1"/>
          </p:cNvSpPr>
          <p:nvPr>
            <p:ph type="dt" sz="half" idx="10"/>
          </p:nvPr>
        </p:nvSpPr>
        <p:spPr/>
        <p:txBody>
          <a:bodyPr/>
          <a:lstStyle/>
          <a:p>
            <a:fld id="{E07D4DC4-637B-4E6C-A982-1E8C168591E8}" type="datetimeFigureOut">
              <a:rPr lang="en-US" smtClean="0"/>
              <a:t>5/22/2026</a:t>
            </a:fld>
            <a:endParaRPr lang="en-US" dirty="0"/>
          </a:p>
        </p:txBody>
      </p:sp>
      <p:sp>
        <p:nvSpPr>
          <p:cNvPr id="6" name="Footer Placeholder 5">
            <a:extLst>
              <a:ext uri="{FF2B5EF4-FFF2-40B4-BE49-F238E27FC236}">
                <a16:creationId xmlns:a16="http://schemas.microsoft.com/office/drawing/2014/main" id="{904D6C5C-6078-608D-1844-2FF626F881F7}"/>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06726E37-B893-9BF9-9341-E80399CCCD5B}"/>
              </a:ext>
            </a:extLst>
          </p:cNvPr>
          <p:cNvSpPr>
            <a:spLocks noGrp="1"/>
          </p:cNvSpPr>
          <p:nvPr>
            <p:ph type="sldNum" sz="quarter" idx="12"/>
          </p:nvPr>
        </p:nvSpPr>
        <p:spPr/>
        <p:txBody>
          <a:bodyPr/>
          <a:lstStyle/>
          <a:p>
            <a:fld id="{6975858D-5C65-4E6E-8A4D-67778C62CCB0}" type="slidenum">
              <a:rPr lang="en-US" smtClean="0"/>
              <a:t>‹#›</a:t>
            </a:fld>
            <a:endParaRPr lang="en-US" dirty="0"/>
          </a:p>
        </p:txBody>
      </p:sp>
    </p:spTree>
    <p:extLst>
      <p:ext uri="{BB962C8B-B14F-4D97-AF65-F5344CB8AC3E}">
        <p14:creationId xmlns:p14="http://schemas.microsoft.com/office/powerpoint/2010/main" val="224679692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02AB53-2F23-468B-115D-80F04A43944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34F4945A-0503-48B0-4A8D-344CE086BA8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a:extLst>
              <a:ext uri="{FF2B5EF4-FFF2-40B4-BE49-F238E27FC236}">
                <a16:creationId xmlns:a16="http://schemas.microsoft.com/office/drawing/2014/main" id="{FF88D517-068C-A20F-8804-0B316409EF1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DAC3B12-1ED7-FEC5-4CCA-782EC3CC4E3E}"/>
              </a:ext>
            </a:extLst>
          </p:cNvPr>
          <p:cNvSpPr>
            <a:spLocks noGrp="1"/>
          </p:cNvSpPr>
          <p:nvPr>
            <p:ph type="dt" sz="half" idx="10"/>
          </p:nvPr>
        </p:nvSpPr>
        <p:spPr/>
        <p:txBody>
          <a:bodyPr/>
          <a:lstStyle/>
          <a:p>
            <a:fld id="{E07D4DC4-637B-4E6C-A982-1E8C168591E8}" type="datetimeFigureOut">
              <a:rPr lang="en-US" smtClean="0"/>
              <a:t>5/22/2026</a:t>
            </a:fld>
            <a:endParaRPr lang="en-US" dirty="0"/>
          </a:p>
        </p:txBody>
      </p:sp>
      <p:sp>
        <p:nvSpPr>
          <p:cNvPr id="6" name="Footer Placeholder 5">
            <a:extLst>
              <a:ext uri="{FF2B5EF4-FFF2-40B4-BE49-F238E27FC236}">
                <a16:creationId xmlns:a16="http://schemas.microsoft.com/office/drawing/2014/main" id="{95023D3D-8BBF-821C-3B54-680798543921}"/>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6A0A7ED4-CAA5-4114-DF67-CA31474B2846}"/>
              </a:ext>
            </a:extLst>
          </p:cNvPr>
          <p:cNvSpPr>
            <a:spLocks noGrp="1"/>
          </p:cNvSpPr>
          <p:nvPr>
            <p:ph type="sldNum" sz="quarter" idx="12"/>
          </p:nvPr>
        </p:nvSpPr>
        <p:spPr/>
        <p:txBody>
          <a:bodyPr/>
          <a:lstStyle/>
          <a:p>
            <a:fld id="{6975858D-5C65-4E6E-8A4D-67778C62CCB0}" type="slidenum">
              <a:rPr lang="en-US" smtClean="0"/>
              <a:t>‹#›</a:t>
            </a:fld>
            <a:endParaRPr lang="en-US" dirty="0"/>
          </a:p>
        </p:txBody>
      </p:sp>
    </p:spTree>
    <p:extLst>
      <p:ext uri="{BB962C8B-B14F-4D97-AF65-F5344CB8AC3E}">
        <p14:creationId xmlns:p14="http://schemas.microsoft.com/office/powerpoint/2010/main" val="329136679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2B0D7D-1286-EBD8-CDED-5EA3788316CA}"/>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6EA19A5E-CF71-4E1D-DC9D-F8797BCAA77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65B753C-5737-DE91-A32A-CAF650B5C2A5}"/>
              </a:ext>
            </a:extLst>
          </p:cNvPr>
          <p:cNvSpPr>
            <a:spLocks noGrp="1"/>
          </p:cNvSpPr>
          <p:nvPr>
            <p:ph type="dt" sz="half" idx="10"/>
          </p:nvPr>
        </p:nvSpPr>
        <p:spPr/>
        <p:txBody>
          <a:bodyPr/>
          <a:lstStyle/>
          <a:p>
            <a:fld id="{E07D4DC4-637B-4E6C-A982-1E8C168591E8}" type="datetimeFigureOut">
              <a:rPr lang="en-US" smtClean="0"/>
              <a:t>5/22/2026</a:t>
            </a:fld>
            <a:endParaRPr lang="en-US" dirty="0"/>
          </a:p>
        </p:txBody>
      </p:sp>
      <p:sp>
        <p:nvSpPr>
          <p:cNvPr id="5" name="Footer Placeholder 4">
            <a:extLst>
              <a:ext uri="{FF2B5EF4-FFF2-40B4-BE49-F238E27FC236}">
                <a16:creationId xmlns:a16="http://schemas.microsoft.com/office/drawing/2014/main" id="{A7B9854B-1E64-5958-CB2D-63281618EE75}"/>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479861AD-3132-E068-678C-806175480133}"/>
              </a:ext>
            </a:extLst>
          </p:cNvPr>
          <p:cNvSpPr>
            <a:spLocks noGrp="1"/>
          </p:cNvSpPr>
          <p:nvPr>
            <p:ph type="sldNum" sz="quarter" idx="12"/>
          </p:nvPr>
        </p:nvSpPr>
        <p:spPr/>
        <p:txBody>
          <a:bodyPr/>
          <a:lstStyle/>
          <a:p>
            <a:fld id="{6975858D-5C65-4E6E-8A4D-67778C62CCB0}" type="slidenum">
              <a:rPr lang="en-US" smtClean="0"/>
              <a:t>‹#›</a:t>
            </a:fld>
            <a:endParaRPr lang="en-US" dirty="0"/>
          </a:p>
        </p:txBody>
      </p:sp>
    </p:spTree>
    <p:extLst>
      <p:ext uri="{BB962C8B-B14F-4D97-AF65-F5344CB8AC3E}">
        <p14:creationId xmlns:p14="http://schemas.microsoft.com/office/powerpoint/2010/main" val="17506991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9275EF4-3BBA-9F62-B233-734E29DD96EB}"/>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269D6A75-6E68-2CE0-C22C-E523C595404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3952FE5-47E4-8A1B-F246-DE409D16F0EC}"/>
              </a:ext>
            </a:extLst>
          </p:cNvPr>
          <p:cNvSpPr>
            <a:spLocks noGrp="1"/>
          </p:cNvSpPr>
          <p:nvPr>
            <p:ph type="dt" sz="half" idx="10"/>
          </p:nvPr>
        </p:nvSpPr>
        <p:spPr/>
        <p:txBody>
          <a:bodyPr/>
          <a:lstStyle/>
          <a:p>
            <a:fld id="{E07D4DC4-637B-4E6C-A982-1E8C168591E8}" type="datetimeFigureOut">
              <a:rPr lang="en-US" smtClean="0"/>
              <a:t>5/22/2026</a:t>
            </a:fld>
            <a:endParaRPr lang="en-US" dirty="0"/>
          </a:p>
        </p:txBody>
      </p:sp>
      <p:sp>
        <p:nvSpPr>
          <p:cNvPr id="5" name="Footer Placeholder 4">
            <a:extLst>
              <a:ext uri="{FF2B5EF4-FFF2-40B4-BE49-F238E27FC236}">
                <a16:creationId xmlns:a16="http://schemas.microsoft.com/office/drawing/2014/main" id="{1D87BC26-B596-697E-118C-46082B3E11A0}"/>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10BD7D00-0707-3055-51A2-10E67C09E9F4}"/>
              </a:ext>
            </a:extLst>
          </p:cNvPr>
          <p:cNvSpPr>
            <a:spLocks noGrp="1"/>
          </p:cNvSpPr>
          <p:nvPr>
            <p:ph type="sldNum" sz="quarter" idx="12"/>
          </p:nvPr>
        </p:nvSpPr>
        <p:spPr/>
        <p:txBody>
          <a:bodyPr/>
          <a:lstStyle/>
          <a:p>
            <a:fld id="{6975858D-5C65-4E6E-8A4D-67778C62CCB0}" type="slidenum">
              <a:rPr lang="en-US" smtClean="0"/>
              <a:t>‹#›</a:t>
            </a:fld>
            <a:endParaRPr lang="en-US" dirty="0"/>
          </a:p>
        </p:txBody>
      </p:sp>
    </p:spTree>
    <p:extLst>
      <p:ext uri="{BB962C8B-B14F-4D97-AF65-F5344CB8AC3E}">
        <p14:creationId xmlns:p14="http://schemas.microsoft.com/office/powerpoint/2010/main" val="245266459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CCC6C63-9C77-338F-A542-CBF29A8880F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CF52DDB6-9571-3F93-C80B-DBE29ADB893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2D09E48-4186-5127-7CB5-C6C8CE2502F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07D4DC4-637B-4E6C-A982-1E8C168591E8}" type="datetimeFigureOut">
              <a:rPr lang="en-US" smtClean="0"/>
              <a:t>5/22/2026</a:t>
            </a:fld>
            <a:endParaRPr lang="en-US" dirty="0"/>
          </a:p>
        </p:txBody>
      </p:sp>
      <p:sp>
        <p:nvSpPr>
          <p:cNvPr id="5" name="Footer Placeholder 4">
            <a:extLst>
              <a:ext uri="{FF2B5EF4-FFF2-40B4-BE49-F238E27FC236}">
                <a16:creationId xmlns:a16="http://schemas.microsoft.com/office/drawing/2014/main" id="{462C5311-C253-98FC-EE6C-AC33538B177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a:extLst>
              <a:ext uri="{FF2B5EF4-FFF2-40B4-BE49-F238E27FC236}">
                <a16:creationId xmlns:a16="http://schemas.microsoft.com/office/drawing/2014/main" id="{3890DCE6-91F1-FE3A-E10F-A6DCBAA946C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975858D-5C65-4E6E-8A4D-67778C62CCB0}" type="slidenum">
              <a:rPr lang="en-US" smtClean="0"/>
              <a:t>‹#›</a:t>
            </a:fld>
            <a:endParaRPr lang="en-US" dirty="0"/>
          </a:p>
        </p:txBody>
      </p:sp>
    </p:spTree>
    <p:extLst>
      <p:ext uri="{BB962C8B-B14F-4D97-AF65-F5344CB8AC3E}">
        <p14:creationId xmlns:p14="http://schemas.microsoft.com/office/powerpoint/2010/main" val="400278745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5.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10.png"/><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7" Type="http://schemas.openxmlformats.org/officeDocument/2006/relationships/image" Target="../media/image16.png"/><Relationship Id="rId2" Type="http://schemas.openxmlformats.org/officeDocument/2006/relationships/image" Target="../media/image11.png"/><Relationship Id="rId1" Type="http://schemas.openxmlformats.org/officeDocument/2006/relationships/slideLayout" Target="../slideLayouts/slideLayout7.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1.png"/><Relationship Id="rId1" Type="http://schemas.openxmlformats.org/officeDocument/2006/relationships/slideLayout" Target="../slideLayouts/slideLayout7.xml"/><Relationship Id="rId5" Type="http://schemas.openxmlformats.org/officeDocument/2006/relationships/image" Target="../media/image20.png"/><Relationship Id="rId4" Type="http://schemas.openxmlformats.org/officeDocument/2006/relationships/image" Target="../media/image19.png"/></Relationships>
</file>

<file path=ppt/slides/_rels/slide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11.png"/><Relationship Id="rId1" Type="http://schemas.openxmlformats.org/officeDocument/2006/relationships/slideLayout" Target="../slideLayouts/slideLayout7.xml"/><Relationship Id="rId4" Type="http://schemas.openxmlformats.org/officeDocument/2006/relationships/image" Target="../media/image22.png"/></Relationships>
</file>

<file path=ppt/slides/_rels/slide1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17.png"/><Relationship Id="rId1" Type="http://schemas.openxmlformats.org/officeDocument/2006/relationships/slideLayout" Target="../slideLayouts/slideLayout7.xml"/><Relationship Id="rId4" Type="http://schemas.openxmlformats.org/officeDocument/2006/relationships/image" Target="../media/image24.png"/></Relationships>
</file>

<file path=ppt/slides/_rels/slide1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17.png"/><Relationship Id="rId1" Type="http://schemas.openxmlformats.org/officeDocument/2006/relationships/slideLayout" Target="../slideLayouts/slideLayout7.xml"/><Relationship Id="rId4" Type="http://schemas.openxmlformats.org/officeDocument/2006/relationships/image" Target="../media/image26.png"/></Relationships>
</file>

<file path=ppt/slides/_rels/slide13.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17.png"/><Relationship Id="rId1" Type="http://schemas.openxmlformats.org/officeDocument/2006/relationships/slideLayout" Target="../slideLayouts/slideLayout7.xml"/><Relationship Id="rId5" Type="http://schemas.openxmlformats.org/officeDocument/2006/relationships/image" Target="../media/image29.png"/><Relationship Id="rId4" Type="http://schemas.openxmlformats.org/officeDocument/2006/relationships/image" Target="../media/image28.png"/></Relationships>
</file>

<file path=ppt/slides/_rels/slide14.xml.rels><?xml version="1.0" encoding="UTF-8" standalone="yes"?>
<Relationships xmlns="http://schemas.openxmlformats.org/package/2006/relationships"><Relationship Id="rId3" Type="http://schemas.openxmlformats.org/officeDocument/2006/relationships/hyperlink" Target="https://drive.google.com/file/d/1B-sidI4bawvi1vglrDKb-9OeEfovU-VR/view?usp=drive_link" TargetMode="External"/><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124010E1-0804-DA63-3025-89885C8FA842}"/>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0" y="0"/>
            <a:ext cx="12192000" cy="6858000"/>
          </a:xfrm>
          <a:prstGeom prst="rect">
            <a:avLst/>
          </a:prstGeom>
        </p:spPr>
      </p:pic>
      <p:sp>
        <p:nvSpPr>
          <p:cNvPr id="6" name="TextBox 5">
            <a:extLst>
              <a:ext uri="{FF2B5EF4-FFF2-40B4-BE49-F238E27FC236}">
                <a16:creationId xmlns:a16="http://schemas.microsoft.com/office/drawing/2014/main" id="{F3C3F4BF-AAC6-D590-9F26-F08FB6B1D133}"/>
              </a:ext>
            </a:extLst>
          </p:cNvPr>
          <p:cNvSpPr txBox="1"/>
          <p:nvPr/>
        </p:nvSpPr>
        <p:spPr>
          <a:xfrm>
            <a:off x="1897626" y="1474619"/>
            <a:ext cx="9891251" cy="3477875"/>
          </a:xfrm>
          <a:prstGeom prst="rect">
            <a:avLst/>
          </a:prstGeom>
          <a:noFill/>
        </p:spPr>
        <p:txBody>
          <a:bodyPr wrap="square" rtlCol="0">
            <a:spAutoFit/>
          </a:bodyPr>
          <a:lstStyle/>
          <a:p>
            <a:pPr marL="285750" indent="-285750">
              <a:buFont typeface="Arial" panose="020B0604020202020204" pitchFamily="34" charset="0"/>
              <a:buChar char="•"/>
            </a:pPr>
            <a:r>
              <a:rPr lang="en-US" sz="2800" b="1" dirty="0"/>
              <a:t>Project Name:- Amazon_Customer_Behavior_Analysis_Project</a:t>
            </a:r>
          </a:p>
          <a:p>
            <a:endParaRPr lang="en-US" sz="2800" b="1" dirty="0"/>
          </a:p>
          <a:p>
            <a:pPr marL="285750" indent="-285750">
              <a:buFont typeface="Arial" panose="020B0604020202020204" pitchFamily="34" charset="0"/>
              <a:buChar char="•"/>
            </a:pPr>
            <a:r>
              <a:rPr lang="en-US" sz="2800" b="1" dirty="0"/>
              <a:t>Name:- Mrunali Sandip Sonar</a:t>
            </a:r>
          </a:p>
          <a:p>
            <a:endParaRPr lang="en-US" sz="2800" dirty="0"/>
          </a:p>
          <a:p>
            <a:pPr marL="285750" indent="-285750">
              <a:buFont typeface="Arial" panose="020B0604020202020204" pitchFamily="34" charset="0"/>
              <a:buChar char="•"/>
            </a:pPr>
            <a:r>
              <a:rPr lang="en-US" sz="2800" b="1" dirty="0"/>
              <a:t>Course Name:- Data Science</a:t>
            </a:r>
          </a:p>
          <a:p>
            <a:endParaRPr lang="en-US" sz="2800" dirty="0"/>
          </a:p>
          <a:p>
            <a:pPr marL="285750" indent="-285750">
              <a:buFont typeface="Arial" panose="020B0604020202020204" pitchFamily="34" charset="0"/>
              <a:buChar char="•"/>
            </a:pPr>
            <a:r>
              <a:rPr lang="en-US" sz="2800" b="1" dirty="0"/>
              <a:t>Batch:- 15-November 2025</a:t>
            </a:r>
          </a:p>
          <a:p>
            <a:endParaRPr lang="en-US" sz="2400" b="1" dirty="0"/>
          </a:p>
        </p:txBody>
      </p:sp>
    </p:spTree>
    <p:extLst>
      <p:ext uri="{BB962C8B-B14F-4D97-AF65-F5344CB8AC3E}">
        <p14:creationId xmlns:p14="http://schemas.microsoft.com/office/powerpoint/2010/main" val="394149961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D43A216-58FF-53AE-683C-374E15336B89}"/>
              </a:ext>
            </a:extLst>
          </p:cNvPr>
          <p:cNvPicPr>
            <a:picLocks noChangeAspect="1"/>
          </p:cNvPicPr>
          <p:nvPr/>
        </p:nvPicPr>
        <p:blipFill>
          <a:blip r:embed="rId2"/>
          <a:stretch>
            <a:fillRect/>
          </a:stretch>
        </p:blipFill>
        <p:spPr>
          <a:xfrm>
            <a:off x="0" y="0"/>
            <a:ext cx="12192000" cy="6857999"/>
          </a:xfrm>
          <a:prstGeom prst="rect">
            <a:avLst/>
          </a:prstGeom>
        </p:spPr>
      </p:pic>
      <p:sp>
        <p:nvSpPr>
          <p:cNvPr id="7" name="TextBox 6">
            <a:extLst>
              <a:ext uri="{FF2B5EF4-FFF2-40B4-BE49-F238E27FC236}">
                <a16:creationId xmlns:a16="http://schemas.microsoft.com/office/drawing/2014/main" id="{39D7DBB1-2C17-0A42-AF59-C502E12DDA85}"/>
              </a:ext>
            </a:extLst>
          </p:cNvPr>
          <p:cNvSpPr txBox="1"/>
          <p:nvPr/>
        </p:nvSpPr>
        <p:spPr>
          <a:xfrm>
            <a:off x="4552335" y="609600"/>
            <a:ext cx="2559675" cy="461665"/>
          </a:xfrm>
          <a:prstGeom prst="rect">
            <a:avLst/>
          </a:prstGeom>
          <a:noFill/>
        </p:spPr>
        <p:txBody>
          <a:bodyPr wrap="none" rtlCol="0">
            <a:spAutoFit/>
          </a:bodyPr>
          <a:lstStyle/>
          <a:p>
            <a:pPr algn="ctr"/>
            <a:r>
              <a:rPr lang="en-US" sz="2400" b="1" dirty="0"/>
              <a:t>Project Overview:-</a:t>
            </a:r>
          </a:p>
        </p:txBody>
      </p:sp>
      <p:sp>
        <p:nvSpPr>
          <p:cNvPr id="8" name="TextBox 7">
            <a:extLst>
              <a:ext uri="{FF2B5EF4-FFF2-40B4-BE49-F238E27FC236}">
                <a16:creationId xmlns:a16="http://schemas.microsoft.com/office/drawing/2014/main" id="{0CB999EF-EEEF-82D4-115D-E65EABB9638D}"/>
              </a:ext>
            </a:extLst>
          </p:cNvPr>
          <p:cNvSpPr txBox="1"/>
          <p:nvPr/>
        </p:nvSpPr>
        <p:spPr>
          <a:xfrm>
            <a:off x="1710814" y="1214252"/>
            <a:ext cx="9517625" cy="1477328"/>
          </a:xfrm>
          <a:prstGeom prst="rect">
            <a:avLst/>
          </a:prstGeom>
          <a:noFill/>
        </p:spPr>
        <p:txBody>
          <a:bodyPr wrap="square" rtlCol="0">
            <a:spAutoFit/>
          </a:bodyPr>
          <a:lstStyle/>
          <a:p>
            <a:r>
              <a:rPr lang="en-US" dirty="0"/>
              <a:t>This project was developed on Customer insights Analyst for Amazon, in which it is leading to global e-commerce platform. The analysis includes customer demographics, shopping frequency, product preferences, recommendation systems, review reliability, and customer satisfaction. Also, this project helps to understand customer needs and improve shopping experiences and recommendation systems.</a:t>
            </a:r>
          </a:p>
        </p:txBody>
      </p:sp>
      <p:sp>
        <p:nvSpPr>
          <p:cNvPr id="9" name="TextBox 8">
            <a:extLst>
              <a:ext uri="{FF2B5EF4-FFF2-40B4-BE49-F238E27FC236}">
                <a16:creationId xmlns:a16="http://schemas.microsoft.com/office/drawing/2014/main" id="{0280396E-534D-2DB6-21A5-ED12E10C90B9}"/>
              </a:ext>
            </a:extLst>
          </p:cNvPr>
          <p:cNvSpPr txBox="1"/>
          <p:nvPr/>
        </p:nvSpPr>
        <p:spPr>
          <a:xfrm>
            <a:off x="4552335" y="3428999"/>
            <a:ext cx="2320892" cy="461665"/>
          </a:xfrm>
          <a:prstGeom prst="rect">
            <a:avLst/>
          </a:prstGeom>
          <a:noFill/>
        </p:spPr>
        <p:txBody>
          <a:bodyPr wrap="none" rtlCol="0">
            <a:spAutoFit/>
          </a:bodyPr>
          <a:lstStyle/>
          <a:p>
            <a:pPr algn="ctr"/>
            <a:r>
              <a:rPr lang="en-US" sz="2400" b="1" dirty="0"/>
              <a:t>Project Dataset:-</a:t>
            </a:r>
          </a:p>
        </p:txBody>
      </p:sp>
      <p:sp>
        <p:nvSpPr>
          <p:cNvPr id="10" name="TextBox 9">
            <a:extLst>
              <a:ext uri="{FF2B5EF4-FFF2-40B4-BE49-F238E27FC236}">
                <a16:creationId xmlns:a16="http://schemas.microsoft.com/office/drawing/2014/main" id="{68AFB638-D311-C205-BAA2-09B9646B1600}"/>
              </a:ext>
            </a:extLst>
          </p:cNvPr>
          <p:cNvSpPr txBox="1"/>
          <p:nvPr/>
        </p:nvSpPr>
        <p:spPr>
          <a:xfrm>
            <a:off x="1710813" y="4166421"/>
            <a:ext cx="9517625" cy="923330"/>
          </a:xfrm>
          <a:prstGeom prst="rect">
            <a:avLst/>
          </a:prstGeom>
          <a:noFill/>
        </p:spPr>
        <p:txBody>
          <a:bodyPr wrap="square" rtlCol="0">
            <a:spAutoFit/>
          </a:bodyPr>
          <a:lstStyle/>
          <a:p>
            <a:r>
              <a:rPr lang="en-US" dirty="0"/>
              <a:t>In this Project the dataset contains customer-related information such as age, gender, shopping frequency, product categories, browsing behavior, recommendation preferences, review reliability, and satisfaction ratings.</a:t>
            </a:r>
          </a:p>
        </p:txBody>
      </p:sp>
    </p:spTree>
    <p:extLst>
      <p:ext uri="{BB962C8B-B14F-4D97-AF65-F5344CB8AC3E}">
        <p14:creationId xmlns:p14="http://schemas.microsoft.com/office/powerpoint/2010/main" val="14314368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22710CF-FAB6-AB50-5436-BFA0A3E225AF}"/>
              </a:ext>
            </a:extLst>
          </p:cNvPr>
          <p:cNvPicPr>
            <a:picLocks noChangeAspect="1"/>
          </p:cNvPicPr>
          <p:nvPr/>
        </p:nvPicPr>
        <p:blipFill>
          <a:blip r:embed="rId2"/>
          <a:stretch>
            <a:fillRect/>
          </a:stretch>
        </p:blipFill>
        <p:spPr>
          <a:xfrm>
            <a:off x="0" y="0"/>
            <a:ext cx="12192000" cy="6857999"/>
          </a:xfrm>
          <a:prstGeom prst="rect">
            <a:avLst/>
          </a:prstGeom>
        </p:spPr>
      </p:pic>
      <p:sp>
        <p:nvSpPr>
          <p:cNvPr id="4" name="TextBox 3">
            <a:extLst>
              <a:ext uri="{FF2B5EF4-FFF2-40B4-BE49-F238E27FC236}">
                <a16:creationId xmlns:a16="http://schemas.microsoft.com/office/drawing/2014/main" id="{2716E419-A980-C160-C1D6-E55C8ABD9C5A}"/>
              </a:ext>
            </a:extLst>
          </p:cNvPr>
          <p:cNvSpPr txBox="1"/>
          <p:nvPr/>
        </p:nvSpPr>
        <p:spPr>
          <a:xfrm>
            <a:off x="3457778" y="501445"/>
            <a:ext cx="5374613" cy="461665"/>
          </a:xfrm>
          <a:prstGeom prst="rect">
            <a:avLst/>
          </a:prstGeom>
          <a:noFill/>
        </p:spPr>
        <p:txBody>
          <a:bodyPr wrap="none" rtlCol="0">
            <a:spAutoFit/>
          </a:bodyPr>
          <a:lstStyle/>
          <a:p>
            <a:r>
              <a:rPr lang="en-US" sz="2400" b="1" dirty="0"/>
              <a:t>Task_1:-Data_Cleaning_and_Preparation</a:t>
            </a:r>
          </a:p>
        </p:txBody>
      </p:sp>
      <p:sp>
        <p:nvSpPr>
          <p:cNvPr id="5" name="TextBox 4">
            <a:extLst>
              <a:ext uri="{FF2B5EF4-FFF2-40B4-BE49-F238E27FC236}">
                <a16:creationId xmlns:a16="http://schemas.microsoft.com/office/drawing/2014/main" id="{23CBD556-7080-449C-E6B9-5577E5A070A0}"/>
              </a:ext>
            </a:extLst>
          </p:cNvPr>
          <p:cNvSpPr txBox="1"/>
          <p:nvPr/>
        </p:nvSpPr>
        <p:spPr>
          <a:xfrm>
            <a:off x="1071716" y="1288026"/>
            <a:ext cx="10422193" cy="1200329"/>
          </a:xfrm>
          <a:prstGeom prst="rect">
            <a:avLst/>
          </a:prstGeom>
          <a:noFill/>
        </p:spPr>
        <p:txBody>
          <a:bodyPr wrap="square" rtlCol="0">
            <a:spAutoFit/>
          </a:bodyPr>
          <a:lstStyle/>
          <a:p>
            <a:r>
              <a:rPr lang="en-US" dirty="0"/>
              <a:t>In Task 1, the dataset was cleaned and prepared for analysis. Duplicate records were removed to avoid repeated information. Missing values were identified and handled properly. Column names were cleaned and standardized for easier analysis. Some categorical values such as recommendation helpfulness and review reliability were converted into numeric.</a:t>
            </a:r>
          </a:p>
        </p:txBody>
      </p:sp>
      <p:pic>
        <p:nvPicPr>
          <p:cNvPr id="9" name="Picture 8">
            <a:extLst>
              <a:ext uri="{FF2B5EF4-FFF2-40B4-BE49-F238E27FC236}">
                <a16:creationId xmlns:a16="http://schemas.microsoft.com/office/drawing/2014/main" id="{88DDB95E-2816-E750-3FC9-77D814F0041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131900" y="2787699"/>
            <a:ext cx="3602322" cy="3681927"/>
          </a:xfrm>
          <a:prstGeom prst="rect">
            <a:avLst/>
          </a:prstGeom>
        </p:spPr>
      </p:pic>
      <p:pic>
        <p:nvPicPr>
          <p:cNvPr id="11" name="Picture 10">
            <a:extLst>
              <a:ext uri="{FF2B5EF4-FFF2-40B4-BE49-F238E27FC236}">
                <a16:creationId xmlns:a16="http://schemas.microsoft.com/office/drawing/2014/main" id="{8BEBB3CA-E114-4292-A9BA-300B08EA2FE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03123" y="2787699"/>
            <a:ext cx="4510448" cy="3681926"/>
          </a:xfrm>
          <a:prstGeom prst="rect">
            <a:avLst/>
          </a:prstGeom>
        </p:spPr>
      </p:pic>
      <p:pic>
        <p:nvPicPr>
          <p:cNvPr id="13" name="Picture 12">
            <a:extLst>
              <a:ext uri="{FF2B5EF4-FFF2-40B4-BE49-F238E27FC236}">
                <a16:creationId xmlns:a16="http://schemas.microsoft.com/office/drawing/2014/main" id="{3066B370-1B23-363B-1217-9BDF3A8D5FF2}"/>
              </a:ext>
            </a:extLst>
          </p:cNvPr>
          <p:cNvPicPr>
            <a:picLocks noChangeAspect="1"/>
          </p:cNvPicPr>
          <p:nvPr/>
        </p:nvPicPr>
        <p:blipFill>
          <a:blip r:embed="rId5"/>
          <a:stretch>
            <a:fillRect/>
          </a:stretch>
        </p:blipFill>
        <p:spPr>
          <a:xfrm>
            <a:off x="9047501" y="2813271"/>
            <a:ext cx="2888860" cy="3656354"/>
          </a:xfrm>
          <a:prstGeom prst="rect">
            <a:avLst/>
          </a:prstGeom>
        </p:spPr>
      </p:pic>
    </p:spTree>
    <p:extLst>
      <p:ext uri="{BB962C8B-B14F-4D97-AF65-F5344CB8AC3E}">
        <p14:creationId xmlns:p14="http://schemas.microsoft.com/office/powerpoint/2010/main" val="310199613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8627035-6134-4155-AE51-95D97BEFE246}"/>
              </a:ext>
            </a:extLst>
          </p:cNvPr>
          <p:cNvPicPr>
            <a:picLocks noChangeAspect="1"/>
          </p:cNvPicPr>
          <p:nvPr/>
        </p:nvPicPr>
        <p:blipFill>
          <a:blip r:embed="rId2"/>
          <a:stretch>
            <a:fillRect/>
          </a:stretch>
        </p:blipFill>
        <p:spPr>
          <a:xfrm>
            <a:off x="0" y="0"/>
            <a:ext cx="12192000" cy="6857999"/>
          </a:xfrm>
          <a:prstGeom prst="rect">
            <a:avLst/>
          </a:prstGeom>
        </p:spPr>
      </p:pic>
      <p:pic>
        <p:nvPicPr>
          <p:cNvPr id="7" name="Picture 6">
            <a:extLst>
              <a:ext uri="{FF2B5EF4-FFF2-40B4-BE49-F238E27FC236}">
                <a16:creationId xmlns:a16="http://schemas.microsoft.com/office/drawing/2014/main" id="{1CE9CB28-B064-C28C-ED7B-E22B25278F2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179423" y="388144"/>
            <a:ext cx="4714708" cy="5196578"/>
          </a:xfrm>
          <a:prstGeom prst="rect">
            <a:avLst/>
          </a:prstGeom>
        </p:spPr>
      </p:pic>
      <p:pic>
        <p:nvPicPr>
          <p:cNvPr id="9" name="Picture 8">
            <a:extLst>
              <a:ext uri="{FF2B5EF4-FFF2-40B4-BE49-F238E27FC236}">
                <a16:creationId xmlns:a16="http://schemas.microsoft.com/office/drawing/2014/main" id="{D9686C15-F290-E9C8-606C-C038BAC9C23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88909" y="1091382"/>
            <a:ext cx="6205181" cy="4011792"/>
          </a:xfrm>
          <a:prstGeom prst="rect">
            <a:avLst/>
          </a:prstGeom>
        </p:spPr>
      </p:pic>
    </p:spTree>
    <p:extLst>
      <p:ext uri="{BB962C8B-B14F-4D97-AF65-F5344CB8AC3E}">
        <p14:creationId xmlns:p14="http://schemas.microsoft.com/office/powerpoint/2010/main" val="77991859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84BC1E4-FB01-ECF1-5256-41FC11882360}"/>
              </a:ext>
            </a:extLst>
          </p:cNvPr>
          <p:cNvPicPr>
            <a:picLocks noChangeAspect="1"/>
          </p:cNvPicPr>
          <p:nvPr/>
        </p:nvPicPr>
        <p:blipFill>
          <a:blip r:embed="rId2"/>
          <a:stretch>
            <a:fillRect/>
          </a:stretch>
        </p:blipFill>
        <p:spPr>
          <a:xfrm>
            <a:off x="0" y="0"/>
            <a:ext cx="12192000" cy="6857999"/>
          </a:xfrm>
          <a:prstGeom prst="rect">
            <a:avLst/>
          </a:prstGeom>
        </p:spPr>
      </p:pic>
      <p:sp>
        <p:nvSpPr>
          <p:cNvPr id="4" name="TextBox 3">
            <a:extLst>
              <a:ext uri="{FF2B5EF4-FFF2-40B4-BE49-F238E27FC236}">
                <a16:creationId xmlns:a16="http://schemas.microsoft.com/office/drawing/2014/main" id="{35B3E880-D89D-C71B-E404-546CE5FA4B9B}"/>
              </a:ext>
            </a:extLst>
          </p:cNvPr>
          <p:cNvSpPr txBox="1"/>
          <p:nvPr/>
        </p:nvSpPr>
        <p:spPr>
          <a:xfrm>
            <a:off x="3451122" y="432619"/>
            <a:ext cx="5145961" cy="461665"/>
          </a:xfrm>
          <a:prstGeom prst="rect">
            <a:avLst/>
          </a:prstGeom>
          <a:noFill/>
        </p:spPr>
        <p:txBody>
          <a:bodyPr wrap="none" rtlCol="0">
            <a:spAutoFit/>
          </a:bodyPr>
          <a:lstStyle/>
          <a:p>
            <a:r>
              <a:rPr lang="en-US" sz="2400" b="1" dirty="0"/>
              <a:t>Task_2:-Descriptive_Behavior_Analysis</a:t>
            </a:r>
          </a:p>
        </p:txBody>
      </p:sp>
      <p:sp>
        <p:nvSpPr>
          <p:cNvPr id="5" name="TextBox 4">
            <a:extLst>
              <a:ext uri="{FF2B5EF4-FFF2-40B4-BE49-F238E27FC236}">
                <a16:creationId xmlns:a16="http://schemas.microsoft.com/office/drawing/2014/main" id="{49A18905-02EF-B0EE-E0A9-5593D9178F4C}"/>
              </a:ext>
            </a:extLst>
          </p:cNvPr>
          <p:cNvSpPr txBox="1"/>
          <p:nvPr/>
        </p:nvSpPr>
        <p:spPr>
          <a:xfrm>
            <a:off x="1347018" y="1149922"/>
            <a:ext cx="9851924" cy="1477328"/>
          </a:xfrm>
          <a:prstGeom prst="rect">
            <a:avLst/>
          </a:prstGeom>
          <a:noFill/>
        </p:spPr>
        <p:txBody>
          <a:bodyPr wrap="square" rtlCol="0">
            <a:spAutoFit/>
          </a:bodyPr>
          <a:lstStyle/>
          <a:p>
            <a:pPr algn="just"/>
            <a:r>
              <a:rPr lang="en-US" dirty="0"/>
              <a:t>In this task 2, customer demographics and shopping behavior were analyzed. It showed customer age distribution and gender participation. Purchase frequency analysis helped to identify that how often customers shop on Amazon. Here, Popular product categories were also identified using charts and graphs. Mean and median values were calculated for shopping satisfaction, recommendation helpfulness, and rating accuracy to understand overall customer experience.</a:t>
            </a:r>
          </a:p>
        </p:txBody>
      </p:sp>
      <p:pic>
        <p:nvPicPr>
          <p:cNvPr id="7" name="Picture 6">
            <a:extLst>
              <a:ext uri="{FF2B5EF4-FFF2-40B4-BE49-F238E27FC236}">
                <a16:creationId xmlns:a16="http://schemas.microsoft.com/office/drawing/2014/main" id="{07969A97-7663-1EAE-7790-30E797CD1CD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499184" y="2809415"/>
            <a:ext cx="4487210" cy="3709372"/>
          </a:xfrm>
          <a:prstGeom prst="rect">
            <a:avLst/>
          </a:prstGeom>
        </p:spPr>
      </p:pic>
      <p:pic>
        <p:nvPicPr>
          <p:cNvPr id="9" name="Picture 8">
            <a:extLst>
              <a:ext uri="{FF2B5EF4-FFF2-40B4-BE49-F238E27FC236}">
                <a16:creationId xmlns:a16="http://schemas.microsoft.com/office/drawing/2014/main" id="{FD299E21-5799-9BEB-1AC4-4C67BDC3FA0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646736" y="2855398"/>
            <a:ext cx="2580470" cy="3709371"/>
          </a:xfrm>
          <a:prstGeom prst="rect">
            <a:avLst/>
          </a:prstGeom>
        </p:spPr>
      </p:pic>
      <p:pic>
        <p:nvPicPr>
          <p:cNvPr id="11" name="Picture 10">
            <a:extLst>
              <a:ext uri="{FF2B5EF4-FFF2-40B4-BE49-F238E27FC236}">
                <a16:creationId xmlns:a16="http://schemas.microsoft.com/office/drawing/2014/main" id="{24C4A7F8-1E80-A826-CCE4-B6109DF21E95}"/>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52284" y="2901381"/>
            <a:ext cx="4016254" cy="3617406"/>
          </a:xfrm>
          <a:prstGeom prst="rect">
            <a:avLst/>
          </a:prstGeom>
        </p:spPr>
      </p:pic>
    </p:spTree>
    <p:extLst>
      <p:ext uri="{BB962C8B-B14F-4D97-AF65-F5344CB8AC3E}">
        <p14:creationId xmlns:p14="http://schemas.microsoft.com/office/powerpoint/2010/main" val="14114659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14BE9ED-C8B0-1A30-311C-ADF0D44C69DF}"/>
              </a:ext>
            </a:extLst>
          </p:cNvPr>
          <p:cNvPicPr>
            <a:picLocks noChangeAspect="1"/>
          </p:cNvPicPr>
          <p:nvPr/>
        </p:nvPicPr>
        <p:blipFill>
          <a:blip r:embed="rId2"/>
          <a:stretch>
            <a:fillRect/>
          </a:stretch>
        </p:blipFill>
        <p:spPr>
          <a:xfrm>
            <a:off x="0" y="0"/>
            <a:ext cx="12192000" cy="6857999"/>
          </a:xfrm>
          <a:prstGeom prst="rect">
            <a:avLst/>
          </a:prstGeom>
        </p:spPr>
      </p:pic>
      <p:pic>
        <p:nvPicPr>
          <p:cNvPr id="5" name="Picture 4">
            <a:extLst>
              <a:ext uri="{FF2B5EF4-FFF2-40B4-BE49-F238E27FC236}">
                <a16:creationId xmlns:a16="http://schemas.microsoft.com/office/drawing/2014/main" id="{1E5C7307-2EB9-0218-084F-32C1CF79DDC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76184" y="3428999"/>
            <a:ext cx="3654334" cy="3012761"/>
          </a:xfrm>
          <a:prstGeom prst="rect">
            <a:avLst/>
          </a:prstGeom>
        </p:spPr>
      </p:pic>
      <p:pic>
        <p:nvPicPr>
          <p:cNvPr id="7" name="Picture 6">
            <a:extLst>
              <a:ext uri="{FF2B5EF4-FFF2-40B4-BE49-F238E27FC236}">
                <a16:creationId xmlns:a16="http://schemas.microsoft.com/office/drawing/2014/main" id="{FD3AB297-048B-0839-0228-0D60CF97F4B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192671" y="95264"/>
            <a:ext cx="5142522" cy="3086852"/>
          </a:xfrm>
          <a:prstGeom prst="rect">
            <a:avLst/>
          </a:prstGeom>
        </p:spPr>
      </p:pic>
      <p:pic>
        <p:nvPicPr>
          <p:cNvPr id="9" name="Picture 8">
            <a:extLst>
              <a:ext uri="{FF2B5EF4-FFF2-40B4-BE49-F238E27FC236}">
                <a16:creationId xmlns:a16="http://schemas.microsoft.com/office/drawing/2014/main" id="{46EA0197-DDD8-7EF5-13F4-E6DE7401A738}"/>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97838" y="164090"/>
            <a:ext cx="5142523" cy="2949201"/>
          </a:xfrm>
          <a:prstGeom prst="rect">
            <a:avLst/>
          </a:prstGeom>
        </p:spPr>
      </p:pic>
      <p:pic>
        <p:nvPicPr>
          <p:cNvPr id="11" name="Picture 10">
            <a:extLst>
              <a:ext uri="{FF2B5EF4-FFF2-40B4-BE49-F238E27FC236}">
                <a16:creationId xmlns:a16="http://schemas.microsoft.com/office/drawing/2014/main" id="{F0331DD7-8AC3-5E68-1203-9D1E13FD532E}"/>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8142914" y="3428998"/>
            <a:ext cx="3786390" cy="3012761"/>
          </a:xfrm>
          <a:prstGeom prst="rect">
            <a:avLst/>
          </a:prstGeom>
        </p:spPr>
      </p:pic>
      <p:pic>
        <p:nvPicPr>
          <p:cNvPr id="13" name="Picture 12">
            <a:extLst>
              <a:ext uri="{FF2B5EF4-FFF2-40B4-BE49-F238E27FC236}">
                <a16:creationId xmlns:a16="http://schemas.microsoft.com/office/drawing/2014/main" id="{85ACBDC3-952B-BFEC-11EF-E543EEF1CD2D}"/>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4311780" y="3428999"/>
            <a:ext cx="3568439" cy="3012761"/>
          </a:xfrm>
          <a:prstGeom prst="rect">
            <a:avLst/>
          </a:prstGeom>
        </p:spPr>
      </p:pic>
    </p:spTree>
    <p:extLst>
      <p:ext uri="{BB962C8B-B14F-4D97-AF65-F5344CB8AC3E}">
        <p14:creationId xmlns:p14="http://schemas.microsoft.com/office/powerpoint/2010/main" val="276386723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46C9B5A4-521B-CF6D-5732-D5A50DF20799}"/>
              </a:ext>
            </a:extLst>
          </p:cNvPr>
          <p:cNvPicPr>
            <a:picLocks noChangeAspect="1"/>
          </p:cNvPicPr>
          <p:nvPr/>
        </p:nvPicPr>
        <p:blipFill>
          <a:blip r:embed="rId2"/>
          <a:stretch>
            <a:fillRect/>
          </a:stretch>
        </p:blipFill>
        <p:spPr>
          <a:xfrm>
            <a:off x="0" y="0"/>
            <a:ext cx="12192000" cy="6857999"/>
          </a:xfrm>
          <a:prstGeom prst="rect">
            <a:avLst/>
          </a:prstGeom>
        </p:spPr>
      </p:pic>
      <p:sp>
        <p:nvSpPr>
          <p:cNvPr id="8" name="TextBox 7">
            <a:extLst>
              <a:ext uri="{FF2B5EF4-FFF2-40B4-BE49-F238E27FC236}">
                <a16:creationId xmlns:a16="http://schemas.microsoft.com/office/drawing/2014/main" id="{EC5066DF-3D46-7F7F-2AA8-FD389E1488E9}"/>
              </a:ext>
            </a:extLst>
          </p:cNvPr>
          <p:cNvSpPr txBox="1"/>
          <p:nvPr/>
        </p:nvSpPr>
        <p:spPr>
          <a:xfrm>
            <a:off x="3726426" y="1061884"/>
            <a:ext cx="4890441" cy="400110"/>
          </a:xfrm>
          <a:prstGeom prst="rect">
            <a:avLst/>
          </a:prstGeom>
          <a:noFill/>
        </p:spPr>
        <p:txBody>
          <a:bodyPr wrap="none" rtlCol="0">
            <a:spAutoFit/>
          </a:bodyPr>
          <a:lstStyle/>
          <a:p>
            <a:pPr algn="just"/>
            <a:r>
              <a:rPr lang="en-US" sz="2000" b="1" dirty="0"/>
              <a:t>Customer_Purchase_and_Browsing_insights</a:t>
            </a:r>
          </a:p>
        </p:txBody>
      </p:sp>
      <p:sp>
        <p:nvSpPr>
          <p:cNvPr id="9" name="TextBox 8">
            <a:extLst>
              <a:ext uri="{FF2B5EF4-FFF2-40B4-BE49-F238E27FC236}">
                <a16:creationId xmlns:a16="http://schemas.microsoft.com/office/drawing/2014/main" id="{AA782365-50CE-2EEA-43EA-8466B0E141B0}"/>
              </a:ext>
            </a:extLst>
          </p:cNvPr>
          <p:cNvSpPr txBox="1"/>
          <p:nvPr/>
        </p:nvSpPr>
        <p:spPr>
          <a:xfrm>
            <a:off x="1884781" y="1951671"/>
            <a:ext cx="9006350" cy="1477328"/>
          </a:xfrm>
          <a:prstGeom prst="rect">
            <a:avLst/>
          </a:prstGeom>
          <a:noFill/>
        </p:spPr>
        <p:txBody>
          <a:bodyPr wrap="square" rtlCol="0">
            <a:spAutoFit/>
          </a:bodyPr>
          <a:lstStyle/>
          <a:p>
            <a:pPr algn="just"/>
            <a:r>
              <a:rPr lang="en-US" dirty="0"/>
              <a:t>The analysis had some product categories such as electronics and fashion were more popular among customers. Also most customers preferred using keyword-based searches while browsing products. It also showed that factors such as shipping costs, complicated checkout processes, and better pricing on other platforms where customer decisions to leave products without purchasing them.</a:t>
            </a:r>
          </a:p>
        </p:txBody>
      </p:sp>
    </p:spTree>
    <p:extLst>
      <p:ext uri="{BB962C8B-B14F-4D97-AF65-F5344CB8AC3E}">
        <p14:creationId xmlns:p14="http://schemas.microsoft.com/office/powerpoint/2010/main" val="77438124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0B906DA-CFC8-C0EA-2F7E-41CB575D355C}"/>
              </a:ext>
            </a:extLst>
          </p:cNvPr>
          <p:cNvPicPr>
            <a:picLocks noChangeAspect="1"/>
          </p:cNvPicPr>
          <p:nvPr/>
        </p:nvPicPr>
        <p:blipFill>
          <a:blip r:embed="rId2"/>
          <a:stretch>
            <a:fillRect/>
          </a:stretch>
        </p:blipFill>
        <p:spPr>
          <a:xfrm>
            <a:off x="0" y="0"/>
            <a:ext cx="12192000" cy="6857999"/>
          </a:xfrm>
          <a:prstGeom prst="rect">
            <a:avLst/>
          </a:prstGeom>
        </p:spPr>
      </p:pic>
      <p:sp>
        <p:nvSpPr>
          <p:cNvPr id="4" name="TextBox 3">
            <a:extLst>
              <a:ext uri="{FF2B5EF4-FFF2-40B4-BE49-F238E27FC236}">
                <a16:creationId xmlns:a16="http://schemas.microsoft.com/office/drawing/2014/main" id="{6FA463FF-78BF-5671-7A3D-012E8C65B782}"/>
              </a:ext>
            </a:extLst>
          </p:cNvPr>
          <p:cNvSpPr txBox="1"/>
          <p:nvPr/>
        </p:nvSpPr>
        <p:spPr>
          <a:xfrm>
            <a:off x="3077497" y="530942"/>
            <a:ext cx="6305893" cy="461665"/>
          </a:xfrm>
          <a:prstGeom prst="rect">
            <a:avLst/>
          </a:prstGeom>
          <a:noFill/>
        </p:spPr>
        <p:txBody>
          <a:bodyPr wrap="none" rtlCol="0">
            <a:spAutoFit/>
          </a:bodyPr>
          <a:lstStyle/>
          <a:p>
            <a:r>
              <a:rPr lang="en-US" sz="2400" b="1" dirty="0"/>
              <a:t>Task_3:-Customer_Segmentation_and_Profilling</a:t>
            </a:r>
          </a:p>
        </p:txBody>
      </p:sp>
      <p:sp>
        <p:nvSpPr>
          <p:cNvPr id="5" name="TextBox 4">
            <a:extLst>
              <a:ext uri="{FF2B5EF4-FFF2-40B4-BE49-F238E27FC236}">
                <a16:creationId xmlns:a16="http://schemas.microsoft.com/office/drawing/2014/main" id="{FC37FBE5-EF39-C462-82D1-CC1740D6C82B}"/>
              </a:ext>
            </a:extLst>
          </p:cNvPr>
          <p:cNvSpPr txBox="1"/>
          <p:nvPr/>
        </p:nvSpPr>
        <p:spPr>
          <a:xfrm>
            <a:off x="1599449" y="1120675"/>
            <a:ext cx="10022280" cy="1200329"/>
          </a:xfrm>
          <a:prstGeom prst="rect">
            <a:avLst/>
          </a:prstGeom>
          <a:noFill/>
        </p:spPr>
        <p:txBody>
          <a:bodyPr wrap="square" rtlCol="0">
            <a:spAutoFit/>
          </a:bodyPr>
          <a:lstStyle/>
          <a:p>
            <a:pPr algn="just"/>
            <a:r>
              <a:rPr lang="en-US" dirty="0"/>
              <a:t>In Task 3, customers were divided into different groups based on their shopping behavior and satisfaction levels. Customers who purchased products frequently and showed high satisfaction were classified as Frequent Buyers. Again, Customers with low satisfaction or high cart abandoned behavior were classified as At-Risk Customers. </a:t>
            </a:r>
          </a:p>
        </p:txBody>
      </p:sp>
      <p:pic>
        <p:nvPicPr>
          <p:cNvPr id="7" name="Picture 6">
            <a:extLst>
              <a:ext uri="{FF2B5EF4-FFF2-40B4-BE49-F238E27FC236}">
                <a16:creationId xmlns:a16="http://schemas.microsoft.com/office/drawing/2014/main" id="{7A7746CA-15C0-4B46-E59B-5153079E790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flipV="1">
            <a:off x="8410136" y="2656791"/>
            <a:ext cx="3531065" cy="3865420"/>
          </a:xfrm>
          <a:prstGeom prst="rect">
            <a:avLst/>
          </a:prstGeom>
        </p:spPr>
      </p:pic>
      <p:pic>
        <p:nvPicPr>
          <p:cNvPr id="9" name="Picture 8">
            <a:extLst>
              <a:ext uri="{FF2B5EF4-FFF2-40B4-BE49-F238E27FC236}">
                <a16:creationId xmlns:a16="http://schemas.microsoft.com/office/drawing/2014/main" id="{A5217293-8F36-2C4D-22E3-0E6D5A3C0B3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628272" y="2656791"/>
            <a:ext cx="3531065" cy="3865420"/>
          </a:xfrm>
          <a:prstGeom prst="rect">
            <a:avLst/>
          </a:prstGeom>
        </p:spPr>
      </p:pic>
      <p:pic>
        <p:nvPicPr>
          <p:cNvPr id="11" name="Picture 10">
            <a:extLst>
              <a:ext uri="{FF2B5EF4-FFF2-40B4-BE49-F238E27FC236}">
                <a16:creationId xmlns:a16="http://schemas.microsoft.com/office/drawing/2014/main" id="{D39CE6F1-EF29-5063-6E2C-6B7B5AF7B5C8}"/>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98002" y="2712362"/>
            <a:ext cx="3867399" cy="3865419"/>
          </a:xfrm>
          <a:prstGeom prst="rect">
            <a:avLst/>
          </a:prstGeom>
        </p:spPr>
      </p:pic>
    </p:spTree>
    <p:extLst>
      <p:ext uri="{BB962C8B-B14F-4D97-AF65-F5344CB8AC3E}">
        <p14:creationId xmlns:p14="http://schemas.microsoft.com/office/powerpoint/2010/main" val="233165750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A5518F8-DD00-D354-B893-9829FBB433AB}"/>
              </a:ext>
            </a:extLst>
          </p:cNvPr>
          <p:cNvPicPr>
            <a:picLocks noChangeAspect="1"/>
          </p:cNvPicPr>
          <p:nvPr/>
        </p:nvPicPr>
        <p:blipFill>
          <a:blip r:embed="rId2"/>
          <a:stretch>
            <a:fillRect/>
          </a:stretch>
        </p:blipFill>
        <p:spPr>
          <a:xfrm>
            <a:off x="0" y="0"/>
            <a:ext cx="12192000" cy="6857999"/>
          </a:xfrm>
          <a:prstGeom prst="rect">
            <a:avLst/>
          </a:prstGeom>
        </p:spPr>
      </p:pic>
      <p:sp>
        <p:nvSpPr>
          <p:cNvPr id="4" name="TextBox 3">
            <a:extLst>
              <a:ext uri="{FF2B5EF4-FFF2-40B4-BE49-F238E27FC236}">
                <a16:creationId xmlns:a16="http://schemas.microsoft.com/office/drawing/2014/main" id="{F1D0C1AA-E08D-51B1-7522-DB09E635DD16}"/>
              </a:ext>
            </a:extLst>
          </p:cNvPr>
          <p:cNvSpPr txBox="1"/>
          <p:nvPr/>
        </p:nvSpPr>
        <p:spPr>
          <a:xfrm>
            <a:off x="4896465" y="1032387"/>
            <a:ext cx="2661754" cy="461665"/>
          </a:xfrm>
          <a:prstGeom prst="rect">
            <a:avLst/>
          </a:prstGeom>
          <a:noFill/>
        </p:spPr>
        <p:txBody>
          <a:bodyPr wrap="none" rtlCol="0">
            <a:spAutoFit/>
          </a:bodyPr>
          <a:lstStyle/>
          <a:p>
            <a:r>
              <a:rPr lang="en-US" sz="2400" b="1" dirty="0"/>
              <a:t>Clustering_Analysis</a:t>
            </a:r>
          </a:p>
        </p:txBody>
      </p:sp>
      <p:sp>
        <p:nvSpPr>
          <p:cNvPr id="5" name="TextBox 4">
            <a:extLst>
              <a:ext uri="{FF2B5EF4-FFF2-40B4-BE49-F238E27FC236}">
                <a16:creationId xmlns:a16="http://schemas.microsoft.com/office/drawing/2014/main" id="{D60C1D35-7664-AE8E-B8DC-A9D602124801}"/>
              </a:ext>
            </a:extLst>
          </p:cNvPr>
          <p:cNvSpPr txBox="1"/>
          <p:nvPr/>
        </p:nvSpPr>
        <p:spPr>
          <a:xfrm>
            <a:off x="2040193" y="1857846"/>
            <a:ext cx="9040761" cy="1200329"/>
          </a:xfrm>
          <a:prstGeom prst="rect">
            <a:avLst/>
          </a:prstGeom>
          <a:noFill/>
        </p:spPr>
        <p:txBody>
          <a:bodyPr wrap="square" rtlCol="0">
            <a:spAutoFit/>
          </a:bodyPr>
          <a:lstStyle/>
          <a:p>
            <a:pPr algn="just"/>
            <a:r>
              <a:rPr lang="en-US" dirty="0"/>
              <a:t>K-Means clustering technique was used to group customers based on behavioral similarities. Numeric variables such as shopping satisfaction and rating accuracy were used for clustering. The clustering process automatically grouped customers into different behavioral segments. This helped identify customers with similar shopping habits and preferences.</a:t>
            </a:r>
          </a:p>
        </p:txBody>
      </p:sp>
    </p:spTree>
    <p:extLst>
      <p:ext uri="{BB962C8B-B14F-4D97-AF65-F5344CB8AC3E}">
        <p14:creationId xmlns:p14="http://schemas.microsoft.com/office/powerpoint/2010/main" val="421080212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CEB7C07-1833-8FD0-4803-E8AA7770EC60}"/>
              </a:ext>
            </a:extLst>
          </p:cNvPr>
          <p:cNvPicPr>
            <a:picLocks noChangeAspect="1"/>
          </p:cNvPicPr>
          <p:nvPr/>
        </p:nvPicPr>
        <p:blipFill>
          <a:blip r:embed="rId2"/>
          <a:stretch>
            <a:fillRect/>
          </a:stretch>
        </p:blipFill>
        <p:spPr>
          <a:xfrm>
            <a:off x="0" y="1"/>
            <a:ext cx="12192000" cy="6857999"/>
          </a:xfrm>
          <a:prstGeom prst="rect">
            <a:avLst/>
          </a:prstGeom>
        </p:spPr>
      </p:pic>
      <p:sp>
        <p:nvSpPr>
          <p:cNvPr id="4" name="TextBox 3">
            <a:extLst>
              <a:ext uri="{FF2B5EF4-FFF2-40B4-BE49-F238E27FC236}">
                <a16:creationId xmlns:a16="http://schemas.microsoft.com/office/drawing/2014/main" id="{F5EFACD1-FC0B-CB7D-0B9E-BCFCE012380A}"/>
              </a:ext>
            </a:extLst>
          </p:cNvPr>
          <p:cNvSpPr txBox="1"/>
          <p:nvPr/>
        </p:nvSpPr>
        <p:spPr>
          <a:xfrm>
            <a:off x="3057833" y="540773"/>
            <a:ext cx="6345840" cy="461665"/>
          </a:xfrm>
          <a:prstGeom prst="rect">
            <a:avLst/>
          </a:prstGeom>
          <a:noFill/>
        </p:spPr>
        <p:txBody>
          <a:bodyPr wrap="none" rtlCol="0">
            <a:spAutoFit/>
          </a:bodyPr>
          <a:lstStyle/>
          <a:p>
            <a:r>
              <a:rPr lang="en-US" sz="2400" b="1" dirty="0"/>
              <a:t>Task_4:-Recommendation_and_Review_Insights</a:t>
            </a:r>
          </a:p>
        </p:txBody>
      </p:sp>
      <p:sp>
        <p:nvSpPr>
          <p:cNvPr id="5" name="TextBox 4">
            <a:extLst>
              <a:ext uri="{FF2B5EF4-FFF2-40B4-BE49-F238E27FC236}">
                <a16:creationId xmlns:a16="http://schemas.microsoft.com/office/drawing/2014/main" id="{57975EEE-9F0A-F21F-F895-5B1F4D2A8E36}"/>
              </a:ext>
            </a:extLst>
          </p:cNvPr>
          <p:cNvSpPr txBox="1"/>
          <p:nvPr/>
        </p:nvSpPr>
        <p:spPr>
          <a:xfrm>
            <a:off x="1551606" y="1199536"/>
            <a:ext cx="9358293" cy="1200329"/>
          </a:xfrm>
          <a:prstGeom prst="rect">
            <a:avLst/>
          </a:prstGeom>
          <a:noFill/>
        </p:spPr>
        <p:txBody>
          <a:bodyPr wrap="square" rtlCol="0">
            <a:spAutoFit/>
          </a:bodyPr>
          <a:lstStyle/>
          <a:p>
            <a:pPr algn="just"/>
            <a:r>
              <a:rPr lang="en-US" dirty="0"/>
              <a:t>This task focused on analyzing how recommendations and reviews influence to the customer satisfaction. This analysis showed that customers who found recommendations helpfulness generally had higher shopping satisfaction levels. Thus, Customers were more likely to engage with recommendations when they were relevant and personalized according to their interests.</a:t>
            </a:r>
          </a:p>
        </p:txBody>
      </p:sp>
      <p:pic>
        <p:nvPicPr>
          <p:cNvPr id="7" name="Picture 6">
            <a:extLst>
              <a:ext uri="{FF2B5EF4-FFF2-40B4-BE49-F238E27FC236}">
                <a16:creationId xmlns:a16="http://schemas.microsoft.com/office/drawing/2014/main" id="{23D2E132-1EAC-8C30-FD6E-DA65CC7D4D3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514575" y="2740096"/>
            <a:ext cx="5097321" cy="3577131"/>
          </a:xfrm>
          <a:prstGeom prst="rect">
            <a:avLst/>
          </a:prstGeom>
        </p:spPr>
      </p:pic>
      <p:pic>
        <p:nvPicPr>
          <p:cNvPr id="9" name="Picture 8">
            <a:extLst>
              <a:ext uri="{FF2B5EF4-FFF2-40B4-BE49-F238E27FC236}">
                <a16:creationId xmlns:a16="http://schemas.microsoft.com/office/drawing/2014/main" id="{C14ECC5C-3041-88FE-AD62-8EE88BD67CB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44836" y="2802194"/>
            <a:ext cx="5185916" cy="3515033"/>
          </a:xfrm>
          <a:prstGeom prst="rect">
            <a:avLst/>
          </a:prstGeom>
        </p:spPr>
      </p:pic>
    </p:spTree>
    <p:extLst>
      <p:ext uri="{BB962C8B-B14F-4D97-AF65-F5344CB8AC3E}">
        <p14:creationId xmlns:p14="http://schemas.microsoft.com/office/powerpoint/2010/main" val="287159023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2170BA4-1092-FD07-4908-C423667F7572}"/>
              </a:ext>
            </a:extLst>
          </p:cNvPr>
          <p:cNvPicPr>
            <a:picLocks noChangeAspect="1"/>
          </p:cNvPicPr>
          <p:nvPr/>
        </p:nvPicPr>
        <p:blipFill>
          <a:blip r:embed="rId2"/>
          <a:stretch>
            <a:fillRect/>
          </a:stretch>
        </p:blipFill>
        <p:spPr>
          <a:xfrm>
            <a:off x="0" y="0"/>
            <a:ext cx="12192000" cy="6857999"/>
          </a:xfrm>
          <a:prstGeom prst="rect">
            <a:avLst/>
          </a:prstGeom>
        </p:spPr>
      </p:pic>
      <p:pic>
        <p:nvPicPr>
          <p:cNvPr id="5" name="Picture 4">
            <a:extLst>
              <a:ext uri="{FF2B5EF4-FFF2-40B4-BE49-F238E27FC236}">
                <a16:creationId xmlns:a16="http://schemas.microsoft.com/office/drawing/2014/main" id="{F28962AB-778B-4D33-A191-81CA14C6854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712506" y="774939"/>
            <a:ext cx="4869894" cy="4858648"/>
          </a:xfrm>
          <a:prstGeom prst="rect">
            <a:avLst/>
          </a:prstGeom>
        </p:spPr>
      </p:pic>
      <p:pic>
        <p:nvPicPr>
          <p:cNvPr id="7" name="Picture 6">
            <a:extLst>
              <a:ext uri="{FF2B5EF4-FFF2-40B4-BE49-F238E27FC236}">
                <a16:creationId xmlns:a16="http://schemas.microsoft.com/office/drawing/2014/main" id="{584961A8-0F02-B77C-3131-2DA9A044A67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25570" y="774939"/>
            <a:ext cx="5452018" cy="4927771"/>
          </a:xfrm>
          <a:prstGeom prst="rect">
            <a:avLst/>
          </a:prstGeom>
        </p:spPr>
      </p:pic>
    </p:spTree>
    <p:extLst>
      <p:ext uri="{BB962C8B-B14F-4D97-AF65-F5344CB8AC3E}">
        <p14:creationId xmlns:p14="http://schemas.microsoft.com/office/powerpoint/2010/main" val="84275100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C6F22ED-BF34-B270-E7D0-4C8DA2DFAE49}"/>
              </a:ext>
            </a:extLst>
          </p:cNvPr>
          <p:cNvPicPr>
            <a:picLocks noChangeAspect="1"/>
          </p:cNvPicPr>
          <p:nvPr/>
        </p:nvPicPr>
        <p:blipFill>
          <a:blip r:embed="rId2"/>
          <a:stretch>
            <a:fillRect/>
          </a:stretch>
        </p:blipFill>
        <p:spPr>
          <a:xfrm>
            <a:off x="0" y="1"/>
            <a:ext cx="12192000" cy="6857999"/>
          </a:xfrm>
          <a:prstGeom prst="rect">
            <a:avLst/>
          </a:prstGeom>
        </p:spPr>
      </p:pic>
      <p:sp>
        <p:nvSpPr>
          <p:cNvPr id="4" name="TextBox 3">
            <a:extLst>
              <a:ext uri="{FF2B5EF4-FFF2-40B4-BE49-F238E27FC236}">
                <a16:creationId xmlns:a16="http://schemas.microsoft.com/office/drawing/2014/main" id="{1F15B4D4-44FD-5530-F714-EFB824B67258}"/>
              </a:ext>
            </a:extLst>
          </p:cNvPr>
          <p:cNvSpPr txBox="1"/>
          <p:nvPr/>
        </p:nvSpPr>
        <p:spPr>
          <a:xfrm>
            <a:off x="4021393" y="412954"/>
            <a:ext cx="4903009" cy="461665"/>
          </a:xfrm>
          <a:prstGeom prst="rect">
            <a:avLst/>
          </a:prstGeom>
          <a:noFill/>
        </p:spPr>
        <p:txBody>
          <a:bodyPr wrap="none" rtlCol="0">
            <a:spAutoFit/>
          </a:bodyPr>
          <a:lstStyle/>
          <a:p>
            <a:r>
              <a:rPr lang="en-US" sz="2400" b="1" dirty="0"/>
              <a:t>Task_5:-Visualization_and_Reporting</a:t>
            </a:r>
          </a:p>
        </p:txBody>
      </p:sp>
      <p:sp>
        <p:nvSpPr>
          <p:cNvPr id="5" name="TextBox 4">
            <a:extLst>
              <a:ext uri="{FF2B5EF4-FFF2-40B4-BE49-F238E27FC236}">
                <a16:creationId xmlns:a16="http://schemas.microsoft.com/office/drawing/2014/main" id="{50A04373-13A7-2D0F-A643-2BCD353FABE0}"/>
              </a:ext>
            </a:extLst>
          </p:cNvPr>
          <p:cNvSpPr txBox="1"/>
          <p:nvPr/>
        </p:nvSpPr>
        <p:spPr>
          <a:xfrm>
            <a:off x="1337185" y="1089686"/>
            <a:ext cx="9684775" cy="1477328"/>
          </a:xfrm>
          <a:prstGeom prst="rect">
            <a:avLst/>
          </a:prstGeom>
          <a:noFill/>
        </p:spPr>
        <p:txBody>
          <a:bodyPr wrap="square" rtlCol="0">
            <a:spAutoFit/>
          </a:bodyPr>
          <a:lstStyle/>
          <a:p>
            <a:pPr algn="just"/>
            <a:r>
              <a:rPr lang="en-US" dirty="0"/>
              <a:t>In this task 5, The Different visualizations such as bar charts, pie charts, and heatmaps were created to present the analysis in a clear and visually attractive manner. These visualizations helped better understand customer behavior, satisfaction levels, recommendation effectiveness, and product preferences. The heatmap highlighted relationships between important variables such as ratings, recommendations, and customer satisfaction.</a:t>
            </a:r>
          </a:p>
        </p:txBody>
      </p:sp>
      <p:pic>
        <p:nvPicPr>
          <p:cNvPr id="7" name="Picture 6">
            <a:extLst>
              <a:ext uri="{FF2B5EF4-FFF2-40B4-BE49-F238E27FC236}">
                <a16:creationId xmlns:a16="http://schemas.microsoft.com/office/drawing/2014/main" id="{45ED4B1F-F2F5-D667-FB4B-2F135D41A9C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394512" y="2864888"/>
            <a:ext cx="5060069" cy="3237177"/>
          </a:xfrm>
          <a:prstGeom prst="rect">
            <a:avLst/>
          </a:prstGeom>
        </p:spPr>
      </p:pic>
      <p:pic>
        <p:nvPicPr>
          <p:cNvPr id="9" name="Picture 8">
            <a:extLst>
              <a:ext uri="{FF2B5EF4-FFF2-40B4-BE49-F238E27FC236}">
                <a16:creationId xmlns:a16="http://schemas.microsoft.com/office/drawing/2014/main" id="{18C421AC-A633-5EE3-B47D-6E3EC33FC67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19277" y="2864888"/>
            <a:ext cx="5178746" cy="3237177"/>
          </a:xfrm>
          <a:prstGeom prst="rect">
            <a:avLst/>
          </a:prstGeom>
        </p:spPr>
      </p:pic>
    </p:spTree>
    <p:extLst>
      <p:ext uri="{BB962C8B-B14F-4D97-AF65-F5344CB8AC3E}">
        <p14:creationId xmlns:p14="http://schemas.microsoft.com/office/powerpoint/2010/main" val="406991566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974EA9C-20A5-9F6A-8EF6-49B2C0450DBE}"/>
              </a:ext>
            </a:extLst>
          </p:cNvPr>
          <p:cNvPicPr>
            <a:picLocks noChangeAspect="1"/>
          </p:cNvPicPr>
          <p:nvPr/>
        </p:nvPicPr>
        <p:blipFill>
          <a:blip r:embed="rId2"/>
          <a:stretch>
            <a:fillRect/>
          </a:stretch>
        </p:blipFill>
        <p:spPr>
          <a:xfrm>
            <a:off x="0" y="0"/>
            <a:ext cx="12192000" cy="6857999"/>
          </a:xfrm>
          <a:prstGeom prst="rect">
            <a:avLst/>
          </a:prstGeom>
        </p:spPr>
      </p:pic>
      <p:pic>
        <p:nvPicPr>
          <p:cNvPr id="5" name="Picture 4">
            <a:extLst>
              <a:ext uri="{FF2B5EF4-FFF2-40B4-BE49-F238E27FC236}">
                <a16:creationId xmlns:a16="http://schemas.microsoft.com/office/drawing/2014/main" id="{D8F85CA6-6792-AA9C-3C36-5E26D441EED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983573" y="3255282"/>
            <a:ext cx="5828120" cy="3373914"/>
          </a:xfrm>
          <a:prstGeom prst="rect">
            <a:avLst/>
          </a:prstGeom>
        </p:spPr>
      </p:pic>
      <p:pic>
        <p:nvPicPr>
          <p:cNvPr id="7" name="Picture 6">
            <a:extLst>
              <a:ext uri="{FF2B5EF4-FFF2-40B4-BE49-F238E27FC236}">
                <a16:creationId xmlns:a16="http://schemas.microsoft.com/office/drawing/2014/main" id="{5EDBD6DE-0FD1-55BC-C17C-B1533F7AC18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897633" y="228804"/>
            <a:ext cx="4993003" cy="2926476"/>
          </a:xfrm>
          <a:prstGeom prst="rect">
            <a:avLst/>
          </a:prstGeom>
        </p:spPr>
      </p:pic>
      <p:pic>
        <p:nvPicPr>
          <p:cNvPr id="9" name="Picture 8">
            <a:extLst>
              <a:ext uri="{FF2B5EF4-FFF2-40B4-BE49-F238E27FC236}">
                <a16:creationId xmlns:a16="http://schemas.microsoft.com/office/drawing/2014/main" id="{D1C156DA-87BA-D14B-B536-A2F62FFF4E8E}"/>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22612" y="228804"/>
            <a:ext cx="4522782" cy="2926476"/>
          </a:xfrm>
          <a:prstGeom prst="rect">
            <a:avLst/>
          </a:prstGeom>
        </p:spPr>
      </p:pic>
    </p:spTree>
    <p:extLst>
      <p:ext uri="{BB962C8B-B14F-4D97-AF65-F5344CB8AC3E}">
        <p14:creationId xmlns:p14="http://schemas.microsoft.com/office/powerpoint/2010/main" val="171152776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5A085BE-B404-D658-5BEC-D16A4D442C0B}"/>
              </a:ext>
            </a:extLst>
          </p:cNvPr>
          <p:cNvPicPr>
            <a:picLocks noChangeAspect="1"/>
          </p:cNvPicPr>
          <p:nvPr/>
        </p:nvPicPr>
        <p:blipFill>
          <a:blip r:embed="rId2"/>
          <a:stretch>
            <a:fillRect/>
          </a:stretch>
        </p:blipFill>
        <p:spPr>
          <a:xfrm>
            <a:off x="0" y="0"/>
            <a:ext cx="12192000" cy="6857999"/>
          </a:xfrm>
          <a:prstGeom prst="rect">
            <a:avLst/>
          </a:prstGeom>
        </p:spPr>
      </p:pic>
      <p:sp>
        <p:nvSpPr>
          <p:cNvPr id="4" name="TextBox 3">
            <a:extLst>
              <a:ext uri="{FF2B5EF4-FFF2-40B4-BE49-F238E27FC236}">
                <a16:creationId xmlns:a16="http://schemas.microsoft.com/office/drawing/2014/main" id="{572CEC45-C170-F3F7-8B14-1B222B5D08C5}"/>
              </a:ext>
            </a:extLst>
          </p:cNvPr>
          <p:cNvSpPr txBox="1"/>
          <p:nvPr/>
        </p:nvSpPr>
        <p:spPr>
          <a:xfrm>
            <a:off x="4795932" y="993059"/>
            <a:ext cx="2600135" cy="461665"/>
          </a:xfrm>
          <a:prstGeom prst="rect">
            <a:avLst/>
          </a:prstGeom>
          <a:noFill/>
        </p:spPr>
        <p:txBody>
          <a:bodyPr wrap="none" rtlCol="0">
            <a:spAutoFit/>
          </a:bodyPr>
          <a:lstStyle/>
          <a:p>
            <a:r>
              <a:rPr lang="en-US" sz="2400" b="1" dirty="0"/>
              <a:t>Project Drive Link:-</a:t>
            </a:r>
          </a:p>
        </p:txBody>
      </p:sp>
      <p:sp>
        <p:nvSpPr>
          <p:cNvPr id="2" name="TextBox 1">
            <a:extLst>
              <a:ext uri="{FF2B5EF4-FFF2-40B4-BE49-F238E27FC236}">
                <a16:creationId xmlns:a16="http://schemas.microsoft.com/office/drawing/2014/main" id="{1AE875FA-D526-8208-73BA-5DC9A8A7234B}"/>
              </a:ext>
            </a:extLst>
          </p:cNvPr>
          <p:cNvSpPr txBox="1"/>
          <p:nvPr/>
        </p:nvSpPr>
        <p:spPr>
          <a:xfrm>
            <a:off x="2113935" y="1927123"/>
            <a:ext cx="7964130" cy="830997"/>
          </a:xfrm>
          <a:prstGeom prst="rect">
            <a:avLst/>
          </a:prstGeom>
          <a:noFill/>
        </p:spPr>
        <p:txBody>
          <a:bodyPr wrap="square" rtlCol="0">
            <a:spAutoFit/>
          </a:bodyPr>
          <a:lstStyle/>
          <a:p>
            <a:r>
              <a:rPr lang="en-US" sz="2400" dirty="0">
                <a:hlinkClick r:id="rId3"/>
              </a:rPr>
              <a:t>https://drive.google.com/file/d/1B-sidI4bawvi1vglrDKb-9OeEfovU-VR/view?usp=drive_link</a:t>
            </a:r>
            <a:endParaRPr lang="en-US" sz="2400" dirty="0"/>
          </a:p>
        </p:txBody>
      </p:sp>
    </p:spTree>
    <p:extLst>
      <p:ext uri="{BB962C8B-B14F-4D97-AF65-F5344CB8AC3E}">
        <p14:creationId xmlns:p14="http://schemas.microsoft.com/office/powerpoint/2010/main" val="235214331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BC01F413-87E6-6EF0-1168-2E0C2D1A4CB9}"/>
              </a:ext>
            </a:extLst>
          </p:cNvPr>
          <p:cNvPicPr preferRelativeResize="0">
            <a:picLocks noChangeAspect="1"/>
          </p:cNvPicPr>
          <p:nvPr/>
        </p:nvPicPr>
        <p:blipFill>
          <a:blip r:embed="rId2"/>
          <a:stretch>
            <a:fillRect/>
          </a:stretch>
        </p:blipFill>
        <p:spPr>
          <a:xfrm>
            <a:off x="0" y="0"/>
            <a:ext cx="12192000" cy="6857999"/>
          </a:xfrm>
          <a:prstGeom prst="rect">
            <a:avLst/>
          </a:prstGeom>
        </p:spPr>
      </p:pic>
      <p:sp>
        <p:nvSpPr>
          <p:cNvPr id="10" name="TextBox 9">
            <a:extLst>
              <a:ext uri="{FF2B5EF4-FFF2-40B4-BE49-F238E27FC236}">
                <a16:creationId xmlns:a16="http://schemas.microsoft.com/office/drawing/2014/main" id="{3DC5E42A-8785-4B8A-F3E8-A88149735472}"/>
              </a:ext>
            </a:extLst>
          </p:cNvPr>
          <p:cNvSpPr txBox="1"/>
          <p:nvPr/>
        </p:nvSpPr>
        <p:spPr>
          <a:xfrm>
            <a:off x="5218195" y="1091381"/>
            <a:ext cx="1755609" cy="461665"/>
          </a:xfrm>
          <a:prstGeom prst="rect">
            <a:avLst/>
          </a:prstGeom>
          <a:noFill/>
        </p:spPr>
        <p:txBody>
          <a:bodyPr wrap="none" rtlCol="0">
            <a:spAutoFit/>
          </a:bodyPr>
          <a:lstStyle/>
          <a:p>
            <a:r>
              <a:rPr lang="en-US" sz="2400" b="1" dirty="0"/>
              <a:t>Conclusion:-</a:t>
            </a:r>
          </a:p>
        </p:txBody>
      </p:sp>
      <p:sp>
        <p:nvSpPr>
          <p:cNvPr id="11" name="TextBox 10">
            <a:extLst>
              <a:ext uri="{FF2B5EF4-FFF2-40B4-BE49-F238E27FC236}">
                <a16:creationId xmlns:a16="http://schemas.microsoft.com/office/drawing/2014/main" id="{775FB141-36E5-9553-B342-D9EBC0A19C66}"/>
              </a:ext>
            </a:extLst>
          </p:cNvPr>
          <p:cNvSpPr txBox="1"/>
          <p:nvPr/>
        </p:nvSpPr>
        <p:spPr>
          <a:xfrm>
            <a:off x="1533833" y="1951671"/>
            <a:ext cx="9930580" cy="1477328"/>
          </a:xfrm>
          <a:prstGeom prst="rect">
            <a:avLst/>
          </a:prstGeom>
          <a:noFill/>
        </p:spPr>
        <p:txBody>
          <a:bodyPr wrap="square" rtlCol="0">
            <a:spAutoFit/>
          </a:bodyPr>
          <a:lstStyle/>
          <a:p>
            <a:pPr algn="just"/>
            <a:r>
              <a:rPr lang="en-US" dirty="0"/>
              <a:t>This concluded that the project successfully analyzed Amazon customer behavior using Python-based data analysis and visualization techniques. The project provided valuable insights into customer satisfaction, recommendation systems, shopping preferences, and behavioral patterns. The findings can help improve recommendation systems, customer engagement strategies, and overall shopping experience on e-commerce platforms.</a:t>
            </a:r>
          </a:p>
        </p:txBody>
      </p:sp>
    </p:spTree>
    <p:extLst>
      <p:ext uri="{BB962C8B-B14F-4D97-AF65-F5344CB8AC3E}">
        <p14:creationId xmlns:p14="http://schemas.microsoft.com/office/powerpoint/2010/main" val="141044293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73456D12-3272-122E-2CD1-75089C5C0191}"/>
              </a:ext>
            </a:extLst>
          </p:cNvPr>
          <p:cNvPicPr>
            <a:picLocks noChangeAspect="1"/>
          </p:cNvPicPr>
          <p:nvPr/>
        </p:nvPicPr>
        <p:blipFill>
          <a:blip r:embed="rId2"/>
          <a:stretch>
            <a:fillRect/>
          </a:stretch>
        </p:blipFill>
        <p:spPr>
          <a:xfrm>
            <a:off x="1858297" y="843510"/>
            <a:ext cx="8613058" cy="4845794"/>
          </a:xfrm>
          <a:prstGeom prst="rect">
            <a:avLst/>
          </a:prstGeom>
        </p:spPr>
      </p:pic>
    </p:spTree>
    <p:extLst>
      <p:ext uri="{BB962C8B-B14F-4D97-AF65-F5344CB8AC3E}">
        <p14:creationId xmlns:p14="http://schemas.microsoft.com/office/powerpoint/2010/main" val="152015630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254</TotalTime>
  <Words>675</Words>
  <Application>Microsoft Office PowerPoint</Application>
  <PresentationFormat>Widescreen</PresentationFormat>
  <Paragraphs>29</Paragraphs>
  <Slides>16</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16</vt:i4>
      </vt:variant>
    </vt:vector>
  </HeadingPairs>
  <TitlesOfParts>
    <vt:vector size="20" baseType="lpstr">
      <vt:lpstr>Arial</vt:lpstr>
      <vt:lpstr>Calibri</vt:lpstr>
      <vt:lpstr>Calibri Light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Mrunali Sonar</dc:creator>
  <cp:lastModifiedBy>Mrunali Sonar</cp:lastModifiedBy>
  <cp:revision>2</cp:revision>
  <dcterms:created xsi:type="dcterms:W3CDTF">2026-05-21T13:21:58Z</dcterms:created>
  <dcterms:modified xsi:type="dcterms:W3CDTF">2026-05-22T08:17:30Z</dcterms:modified>
</cp:coreProperties>
</file>